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6" r:id="rId3"/>
    <p:sldId id="267" r:id="rId4"/>
    <p:sldId id="275" r:id="rId5"/>
    <p:sldId id="276" r:id="rId6"/>
    <p:sldId id="268" r:id="rId7"/>
    <p:sldId id="278" r:id="rId8"/>
    <p:sldId id="279" r:id="rId9"/>
    <p:sldId id="277" r:id="rId10"/>
    <p:sldId id="273" r:id="rId11"/>
    <p:sldId id="274" r:id="rId12"/>
    <p:sldId id="269" r:id="rId13"/>
    <p:sldId id="272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85" autoAdjust="0"/>
    <p:restoredTop sz="94627" autoAdjust="0"/>
  </p:normalViewPr>
  <p:slideViewPr>
    <p:cSldViewPr snapToGrid="0" snapToObjects="1">
      <p:cViewPr>
        <p:scale>
          <a:sx n="75" d="100"/>
          <a:sy n="75" d="100"/>
        </p:scale>
        <p:origin x="612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8132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png"/><Relationship Id="rId21" Type="http://schemas.openxmlformats.org/officeDocument/2006/relationships/image" Target="../media/image2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svg"/><Relationship Id="rId20" Type="http://schemas.openxmlformats.org/officeDocument/2006/relationships/image" Target="../media/image2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19" Type="http://schemas.openxmlformats.org/officeDocument/2006/relationships/image" Target="../media/image20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Relationship Id="rId22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emini.google.com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jpeg"/><Relationship Id="rId4" Type="http://schemas.openxmlformats.org/officeDocument/2006/relationships/hyperlink" Target="https://chatgpt.com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0" descr="/home/claude/pptx_work/portada_grietas.png">
            <a:extLst>
              <a:ext uri="{FF2B5EF4-FFF2-40B4-BE49-F238E27FC236}">
                <a16:creationId xmlns:a16="http://schemas.microsoft.com/office/drawing/2014/main" id="{FB702AEA-10D4-F724-743E-4C076F539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7863840" cy="6858000"/>
          </a:xfrm>
          <a:prstGeom prst="rect">
            <a:avLst/>
          </a:prstGeom>
          <a:solidFill>
            <a:srgbClr val="16213A"/>
          </a:solidFill>
          <a:ln/>
        </p:spPr>
        <p:txBody>
          <a:bodyPr/>
          <a:lstStyle/>
          <a:p>
            <a:endParaRPr lang="es-PE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T3 · IMPLEMENTACIÓN Y RESULTADOS</a:t>
            </a:r>
            <a:endParaRPr lang="en-US" sz="1400" dirty="0">
              <a:solidFill>
                <a:srgbClr val="FFFF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2439924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s-MX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visual de fisuras en concreto</a:t>
            </a:r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una Red </a:t>
            </a:r>
            <a:r>
              <a:rPr lang="en-US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Neuronal </a:t>
            </a:r>
            <a:r>
              <a:rPr lang="en-US" sz="1800" dirty="0" err="1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Convolucional</a:t>
            </a:r>
            <a:r>
              <a:rPr lang="en-US" sz="18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(CNN)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822960" cy="54864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251960"/>
            <a:ext cx="7223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Susana Abigail Campos Rodríguez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Carlos Teodoro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Barreda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Guzmán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Jaime Jesus Ramírez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Elera</a:t>
            </a:r>
            <a:endParaRPr lang="en-US" sz="14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Renzo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Salleres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Untiveros</a:t>
            </a:r>
            <a:r>
              <a:rPr lang="en-US" sz="14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612648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de IA en Estructuras</a:t>
            </a:r>
            <a:endParaRPr lang="en-US" sz="12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C163C432-9BF1-3E67-694B-31BE45FB9053}"/>
              </a:ext>
            </a:extLst>
          </p:cNvPr>
          <p:cNvSpPr/>
          <p:nvPr/>
        </p:nvSpPr>
        <p:spPr>
          <a:xfrm>
            <a:off x="794201" y="1835658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SDNET2018</a:t>
            </a:r>
            <a:endParaRPr lang="en-US" sz="3600" dirty="0"/>
          </a:p>
        </p:txBody>
      </p:sp>
      <p:pic>
        <p:nvPicPr>
          <p:cNvPr id="1026" name="Picture 2" descr="Iconos gratuitos de Idea diseñados por Freepik">
            <a:extLst>
              <a:ext uri="{FF2B5EF4-FFF2-40B4-BE49-F238E27FC236}">
                <a16:creationId xmlns:a16="http://schemas.microsoft.com/office/drawing/2014/main" id="{29A5796D-25A7-E9C7-7B0D-7B01F7D9A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297" b="94727" l="8594" r="94336">
                        <a14:foregroundMark x1="49414" y1="49219" x2="42188" y2="47461"/>
                        <a14:foregroundMark x1="41602" y1="41211" x2="42188" y2="50977"/>
                        <a14:foregroundMark x1="42188" y1="50977" x2="45313" y2="58398"/>
                        <a14:foregroundMark x1="15430" y1="27734" x2="17773" y2="29492"/>
                        <a14:foregroundMark x1="8594" y1="47070" x2="12500" y2="47070"/>
                        <a14:foregroundMark x1="17188" y1="66992" x2="18945" y2="65625"/>
                        <a14:foregroundMark x1="30273" y1="81445" x2="31836" y2="78906"/>
                        <a14:foregroundMark x1="48242" y1="94727" x2="52148" y2="91992"/>
                        <a14:foregroundMark x1="67773" y1="78320" x2="68359" y2="80859"/>
                        <a14:foregroundMark x1="80859" y1="65234" x2="83008" y2="66797"/>
                        <a14:foregroundMark x1="88281" y1="47656" x2="94336" y2="47070"/>
                        <a14:foregroundMark x1="81250" y1="29297" x2="84180" y2="28320"/>
                        <a14:foregroundMark x1="67188" y1="15234" x2="68945" y2="12695"/>
                        <a14:foregroundMark x1="49609" y1="4297" x2="50000" y2="7813"/>
                        <a14:foregroundMark x1="30664" y1="13281" x2="31836" y2="15625"/>
                        <a14:foregroundMark x1="58984" y1="49609" x2="57031" y2="587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9212" y="1143000"/>
            <a:ext cx="1128538" cy="1128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647E8F-2D11-464B-7A3A-12D76C2BBAE2}"/>
              </a:ext>
            </a:extLst>
          </p:cNvPr>
          <p:cNvSpPr/>
          <p:nvPr/>
        </p:nvSpPr>
        <p:spPr>
          <a:xfrm>
            <a:off x="-221" y="-318062"/>
            <a:ext cx="12192219" cy="1005840"/>
          </a:xfrm>
          <a:prstGeom prst="rect">
            <a:avLst/>
          </a:prstGeom>
          <a:solidFill>
            <a:srgbClr val="061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8C8A49-1E02-FA32-01C9-7CFDCEAB7C41}"/>
              </a:ext>
            </a:extLst>
          </p:cNvPr>
          <p:cNvSpPr txBox="1"/>
          <p:nvPr/>
        </p:nvSpPr>
        <p:spPr>
          <a:xfrm>
            <a:off x="91447" y="127852"/>
            <a:ext cx="269496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es-MX" sz="2400" dirty="0">
                <a:solidFill>
                  <a:srgbClr val="FFFFFF"/>
                </a:solidFill>
                <a:latin typeface="Roboto Black" panose="020B0604020202020204" pitchFamily="2" charset="0"/>
                <a:ea typeface="Roboto Black" panose="020B0604020202020204" pitchFamily="2" charset="0"/>
              </a:rPr>
              <a:t>I. INTRODUCCIÓN</a:t>
            </a:r>
            <a:endParaRPr sz="2400" dirty="0"/>
          </a:p>
        </p:txBody>
      </p:sp>
      <p:pic>
        <p:nvPicPr>
          <p:cNvPr id="2050" name="Picture 2" descr="EPG de la UPC: &quot;Hoy necesitamos especialistas en la gestión de riesgos y la  protección de los datos&quot; | Semana Económica">
            <a:extLst>
              <a:ext uri="{FF2B5EF4-FFF2-40B4-BE49-F238E27FC236}">
                <a16:creationId xmlns:a16="http://schemas.microsoft.com/office/drawing/2014/main" id="{C67B401A-53A6-AF6C-2948-199BF7945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1377" y="-198365"/>
            <a:ext cx="1313881" cy="886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60" name="Grupo 2059">
            <a:extLst>
              <a:ext uri="{FF2B5EF4-FFF2-40B4-BE49-F238E27FC236}">
                <a16:creationId xmlns:a16="http://schemas.microsoft.com/office/drawing/2014/main" id="{E1F58BDB-16D3-B6AC-F483-B94C672FECBA}"/>
              </a:ext>
            </a:extLst>
          </p:cNvPr>
          <p:cNvGrpSpPr/>
          <p:nvPr/>
        </p:nvGrpSpPr>
        <p:grpSpPr>
          <a:xfrm>
            <a:off x="302767" y="916378"/>
            <a:ext cx="4713111" cy="5341298"/>
            <a:chOff x="144780" y="1852295"/>
            <a:chExt cx="4718304" cy="5650992"/>
          </a:xfrm>
        </p:grpSpPr>
        <p:sp>
          <p:nvSpPr>
            <p:cNvPr id="9" name="Shape 3">
              <a:extLst>
                <a:ext uri="{FF2B5EF4-FFF2-40B4-BE49-F238E27FC236}">
                  <a16:creationId xmlns:a16="http://schemas.microsoft.com/office/drawing/2014/main" id="{ECF9A791-E92E-6D44-9DDB-568ED8C27ADD}"/>
                </a:ext>
              </a:extLst>
            </p:cNvPr>
            <p:cNvSpPr/>
            <p:nvPr/>
          </p:nvSpPr>
          <p:spPr>
            <a:xfrm>
              <a:off x="144780" y="1852295"/>
              <a:ext cx="4617720" cy="5650992"/>
            </a:xfrm>
            <a:prstGeom prst="roundRect">
              <a:avLst>
                <a:gd name="adj" fmla="val 1584"/>
              </a:avLst>
            </a:prstGeom>
            <a:solidFill>
              <a:srgbClr val="FFFFFF"/>
            </a:solidFill>
            <a:ln w="13970">
              <a:solidFill>
                <a:srgbClr val="B8C7D9"/>
              </a:solidFill>
              <a:prstDash val="solid"/>
            </a:ln>
            <a:effectLst>
              <a:outerShdw blurRad="19050" dist="8890" dir="27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46BD8E59-6300-DEB9-BCA8-05F64E80E926}"/>
                </a:ext>
              </a:extLst>
            </p:cNvPr>
            <p:cNvSpPr/>
            <p:nvPr/>
          </p:nvSpPr>
          <p:spPr>
            <a:xfrm>
              <a:off x="144780" y="1852295"/>
              <a:ext cx="4617720" cy="438912"/>
            </a:xfrm>
            <a:prstGeom prst="roundRect">
              <a:avLst>
                <a:gd name="adj" fmla="val 12500"/>
              </a:avLst>
            </a:prstGeom>
            <a:solidFill>
              <a:srgbClr val="073B86"/>
            </a:solidFill>
            <a:ln w="12700">
              <a:solidFill>
                <a:srgbClr val="073B86">
                  <a:alpha val="0"/>
                </a:srgbClr>
              </a:solidFill>
              <a:prstDash val="solid"/>
            </a:ln>
          </p:spPr>
        </p:sp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D423B027-247E-E2A7-60CE-8279A9ABE504}"/>
                </a:ext>
              </a:extLst>
            </p:cNvPr>
            <p:cNvSpPr/>
            <p:nvPr/>
          </p:nvSpPr>
          <p:spPr>
            <a:xfrm>
              <a:off x="309372" y="1952879"/>
              <a:ext cx="428853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  <a:latin typeface="Arial Nova Light" panose="020B0304020202020204" pitchFamily="34" charset="0"/>
                  <a:ea typeface="Aptos Display" pitchFamily="34" charset="-122"/>
                  <a:cs typeface="Aptos Display" pitchFamily="34" charset="-120"/>
                </a:rPr>
                <a:t>1. Problema y método actual</a:t>
              </a:r>
              <a:endParaRPr lang="en-US" dirty="0">
                <a:latin typeface="Arial Nova Light" panose="020B0304020202020204" pitchFamily="34" charset="0"/>
              </a:endParaRPr>
            </a:p>
          </p:txBody>
        </p:sp>
        <p:pic>
          <p:nvPicPr>
            <p:cNvPr id="12" name="Image 0" descr="preencoded.png">
              <a:extLst>
                <a:ext uri="{FF2B5EF4-FFF2-40B4-BE49-F238E27FC236}">
                  <a16:creationId xmlns:a16="http://schemas.microsoft.com/office/drawing/2014/main" id="{68316284-6C42-44A5-DF04-1CB3DB784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78373" y="2383406"/>
              <a:ext cx="787252" cy="787251"/>
            </a:xfrm>
            <a:prstGeom prst="rect">
              <a:avLst/>
            </a:prstGeom>
          </p:spPr>
        </p:pic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B210BE3F-7A8A-84C5-F33F-06934B34AE27}"/>
                </a:ext>
              </a:extLst>
            </p:cNvPr>
            <p:cNvSpPr/>
            <p:nvPr/>
          </p:nvSpPr>
          <p:spPr>
            <a:xfrm>
              <a:off x="976884" y="2474087"/>
              <a:ext cx="37947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C2733"/>
                  </a:solidFill>
                  <a:latin typeface="Arial Nova Light" panose="020B0304020202020204" pitchFamily="34" charset="0"/>
                </a:rPr>
                <a:t>Patología frecuente</a:t>
              </a:r>
              <a:endParaRPr lang="en-US" sz="1400" dirty="0">
                <a:latin typeface="Arial Nova Light" panose="020B0304020202020204" pitchFamily="34" charset="0"/>
              </a:endParaRPr>
            </a:p>
          </p:txBody>
        </p:sp>
        <p:sp>
          <p:nvSpPr>
            <p:cNvPr id="14" name="Text 7">
              <a:extLst>
                <a:ext uri="{FF2B5EF4-FFF2-40B4-BE49-F238E27FC236}">
                  <a16:creationId xmlns:a16="http://schemas.microsoft.com/office/drawing/2014/main" id="{6A082EAF-7473-1B2F-239B-5C61778A4E09}"/>
                </a:ext>
              </a:extLst>
            </p:cNvPr>
            <p:cNvSpPr/>
            <p:nvPr/>
          </p:nvSpPr>
          <p:spPr>
            <a:xfrm>
              <a:off x="976884" y="2684399"/>
              <a:ext cx="3886200" cy="43891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5C6675"/>
                  </a:solidFill>
                  <a:latin typeface="Arial Nova Light" panose="020B0304020202020204" pitchFamily="34" charset="0"/>
                </a:rPr>
                <a:t>Las fisuras aparecen por retracción, sobrecargas, corrosión, acciones sísmicas o agentes ambientales.</a:t>
              </a:r>
              <a:endParaRPr lang="en-US" sz="1050" dirty="0">
                <a:latin typeface="Arial Nova Light" panose="020B0304020202020204" pitchFamily="34" charset="0"/>
              </a:endParaRPr>
            </a:p>
          </p:txBody>
        </p:sp>
        <p:pic>
          <p:nvPicPr>
            <p:cNvPr id="15" name="Image 1" descr="preencoded.png">
              <a:extLst>
                <a:ext uri="{FF2B5EF4-FFF2-40B4-BE49-F238E27FC236}">
                  <a16:creationId xmlns:a16="http://schemas.microsoft.com/office/drawing/2014/main" id="{22CFDBEB-0A96-7E8A-E707-C647EB606B5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12728" y="3459718"/>
              <a:ext cx="543662" cy="543662"/>
            </a:xfrm>
            <a:prstGeom prst="rect">
              <a:avLst/>
            </a:prstGeom>
          </p:spPr>
        </p:pic>
        <p:sp>
          <p:nvSpPr>
            <p:cNvPr id="16" name="Text 8">
              <a:extLst>
                <a:ext uri="{FF2B5EF4-FFF2-40B4-BE49-F238E27FC236}">
                  <a16:creationId xmlns:a16="http://schemas.microsoft.com/office/drawing/2014/main" id="{89CD9AB0-13FF-4C06-436F-7FCFED021A91}"/>
                </a:ext>
              </a:extLst>
            </p:cNvPr>
            <p:cNvSpPr/>
            <p:nvPr/>
          </p:nvSpPr>
          <p:spPr>
            <a:xfrm>
              <a:off x="976884" y="3507359"/>
              <a:ext cx="37947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C2733"/>
                  </a:solidFill>
                  <a:latin typeface="Arial Nova Light" panose="020B0304020202020204" pitchFamily="34" charset="0"/>
                </a:rPr>
                <a:t>Detección temprana</a:t>
              </a:r>
              <a:endParaRPr lang="en-US" sz="1400" dirty="0">
                <a:latin typeface="Arial Nova Light" panose="020B0304020202020204" pitchFamily="34" charset="0"/>
              </a:endParaRPr>
            </a:p>
          </p:txBody>
        </p:sp>
        <p:sp>
          <p:nvSpPr>
            <p:cNvPr id="17" name="Text 9">
              <a:extLst>
                <a:ext uri="{FF2B5EF4-FFF2-40B4-BE49-F238E27FC236}">
                  <a16:creationId xmlns:a16="http://schemas.microsoft.com/office/drawing/2014/main" id="{FE573E46-30CE-E58C-9D34-B010F1180FB1}"/>
                </a:ext>
              </a:extLst>
            </p:cNvPr>
            <p:cNvSpPr/>
            <p:nvPr/>
          </p:nvSpPr>
          <p:spPr>
            <a:xfrm>
              <a:off x="976884" y="3717671"/>
              <a:ext cx="3674912" cy="43891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5C6675"/>
                  </a:solidFill>
                  <a:latin typeface="Arial Nova Light" panose="020B0304020202020204" pitchFamily="34" charset="0"/>
                </a:rPr>
                <a:t>Permite programar mantenimiento, reducir costos y prevenir fallas estructurales de mayor magnitud.</a:t>
              </a:r>
              <a:endParaRPr lang="en-US" sz="1050" dirty="0">
                <a:latin typeface="Arial Nova Light" panose="020B0304020202020204" pitchFamily="34" charset="0"/>
              </a:endParaRPr>
            </a:p>
          </p:txBody>
        </p:sp>
        <p:pic>
          <p:nvPicPr>
            <p:cNvPr id="18" name="Image 2" descr="preencoded.png">
              <a:extLst>
                <a:ext uri="{FF2B5EF4-FFF2-40B4-BE49-F238E27FC236}">
                  <a16:creationId xmlns:a16="http://schemas.microsoft.com/office/drawing/2014/main" id="{C76E29E6-CC13-D01F-5E53-0293F151DC4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00168" y="4451680"/>
              <a:ext cx="543662" cy="543662"/>
            </a:xfrm>
            <a:prstGeom prst="rect">
              <a:avLst/>
            </a:prstGeom>
          </p:spPr>
        </p:pic>
        <p:sp>
          <p:nvSpPr>
            <p:cNvPr id="19" name="Text 10">
              <a:extLst>
                <a:ext uri="{FF2B5EF4-FFF2-40B4-BE49-F238E27FC236}">
                  <a16:creationId xmlns:a16="http://schemas.microsoft.com/office/drawing/2014/main" id="{69661D6E-F6B2-5F51-386E-DB9F87088EC8}"/>
                </a:ext>
              </a:extLst>
            </p:cNvPr>
            <p:cNvSpPr/>
            <p:nvPr/>
          </p:nvSpPr>
          <p:spPr>
            <a:xfrm>
              <a:off x="976884" y="4540631"/>
              <a:ext cx="37947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C2733"/>
                  </a:solidFill>
                  <a:latin typeface="Arial Nova Light" panose="020B0304020202020204" pitchFamily="34" charset="0"/>
                </a:rPr>
                <a:t>Inspección tradicional</a:t>
              </a:r>
              <a:endParaRPr lang="en-US" sz="1400" dirty="0">
                <a:latin typeface="Arial Nova Light" panose="020B0304020202020204" pitchFamily="34" charset="0"/>
              </a:endParaRPr>
            </a:p>
          </p:txBody>
        </p:sp>
        <p:sp>
          <p:nvSpPr>
            <p:cNvPr id="20" name="Text 11">
              <a:extLst>
                <a:ext uri="{FF2B5EF4-FFF2-40B4-BE49-F238E27FC236}">
                  <a16:creationId xmlns:a16="http://schemas.microsoft.com/office/drawing/2014/main" id="{C1CA1DC5-4CF8-7FFB-740A-E9DF864903F2}"/>
                </a:ext>
              </a:extLst>
            </p:cNvPr>
            <p:cNvSpPr/>
            <p:nvPr/>
          </p:nvSpPr>
          <p:spPr>
            <a:xfrm>
              <a:off x="976884" y="4750943"/>
              <a:ext cx="3674912" cy="43891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5C6675"/>
                  </a:solidFill>
                  <a:latin typeface="Arial Nova Light" panose="020B0304020202020204" pitchFamily="34" charset="0"/>
                </a:rPr>
                <a:t>Evaluación visual por especialistas: requiere tiempo y depende de la experiencia del inspector.</a:t>
              </a:r>
              <a:endParaRPr lang="en-US" sz="1050" dirty="0">
                <a:latin typeface="Arial Nova Light" panose="020B0304020202020204" pitchFamily="34" charset="0"/>
              </a:endParaRPr>
            </a:p>
          </p:txBody>
        </p:sp>
        <p:pic>
          <p:nvPicPr>
            <p:cNvPr id="21" name="Image 3" descr="preencoded.png">
              <a:extLst>
                <a:ext uri="{FF2B5EF4-FFF2-40B4-BE49-F238E27FC236}">
                  <a16:creationId xmlns:a16="http://schemas.microsoft.com/office/drawing/2014/main" id="{74918651-030E-14DA-AB8E-1272500226C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58554" y="5512384"/>
              <a:ext cx="585276" cy="585275"/>
            </a:xfrm>
            <a:prstGeom prst="rect">
              <a:avLst/>
            </a:prstGeom>
          </p:spPr>
        </p:pic>
        <p:sp>
          <p:nvSpPr>
            <p:cNvPr id="22" name="Text 12">
              <a:extLst>
                <a:ext uri="{FF2B5EF4-FFF2-40B4-BE49-F238E27FC236}">
                  <a16:creationId xmlns:a16="http://schemas.microsoft.com/office/drawing/2014/main" id="{265FC159-C627-9848-932B-BDD0EFF3EEF6}"/>
                </a:ext>
              </a:extLst>
            </p:cNvPr>
            <p:cNvSpPr/>
            <p:nvPr/>
          </p:nvSpPr>
          <p:spPr>
            <a:xfrm>
              <a:off x="976884" y="5573903"/>
              <a:ext cx="37947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C2733"/>
                  </a:solidFill>
                  <a:latin typeface="Arial Nova Light" panose="020B0304020202020204" pitchFamily="34" charset="0"/>
                </a:rPr>
                <a:t>Limitación principal</a:t>
              </a:r>
              <a:endParaRPr lang="en-US" sz="1400" dirty="0">
                <a:latin typeface="Arial Nova Light" panose="020B0304020202020204" pitchFamily="34" charset="0"/>
              </a:endParaRPr>
            </a:p>
          </p:txBody>
        </p:sp>
        <p:sp>
          <p:nvSpPr>
            <p:cNvPr id="23" name="Text 13">
              <a:extLst>
                <a:ext uri="{FF2B5EF4-FFF2-40B4-BE49-F238E27FC236}">
                  <a16:creationId xmlns:a16="http://schemas.microsoft.com/office/drawing/2014/main" id="{8539527C-9D5F-08FA-1A81-D22E7C572DD0}"/>
                </a:ext>
              </a:extLst>
            </p:cNvPr>
            <p:cNvSpPr/>
            <p:nvPr/>
          </p:nvSpPr>
          <p:spPr>
            <a:xfrm>
              <a:off x="976884" y="5784215"/>
              <a:ext cx="3886200" cy="43891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5C6675"/>
                  </a:solidFill>
                  <a:latin typeface="Arial Nova Light" panose="020B0304020202020204" pitchFamily="34" charset="0"/>
                </a:rPr>
                <a:t>Puede ser lenta, subjetiva y poco eficiente cuando se analizan muchas estructuras o imágenes.</a:t>
              </a:r>
              <a:endParaRPr lang="en-US" sz="1050" dirty="0">
                <a:latin typeface="Arial Nova Light" panose="020B0304020202020204" pitchFamily="34" charset="0"/>
              </a:endParaRPr>
            </a:p>
          </p:txBody>
        </p:sp>
        <p:sp>
          <p:nvSpPr>
            <p:cNvPr id="24" name="Shape 14">
              <a:extLst>
                <a:ext uri="{FF2B5EF4-FFF2-40B4-BE49-F238E27FC236}">
                  <a16:creationId xmlns:a16="http://schemas.microsoft.com/office/drawing/2014/main" id="{CE44C024-EE73-2E32-61E4-DD4625E6CCC1}"/>
                </a:ext>
              </a:extLst>
            </p:cNvPr>
            <p:cNvSpPr/>
            <p:nvPr/>
          </p:nvSpPr>
          <p:spPr>
            <a:xfrm>
              <a:off x="419100" y="6726047"/>
              <a:ext cx="4041648" cy="0"/>
            </a:xfrm>
            <a:prstGeom prst="line">
              <a:avLst/>
            </a:prstGeom>
            <a:noFill/>
            <a:ln w="12700">
              <a:solidFill>
                <a:srgbClr val="D8E5F3"/>
              </a:solidFill>
              <a:prstDash val="solid"/>
            </a:ln>
          </p:spPr>
        </p:sp>
        <p:sp>
          <p:nvSpPr>
            <p:cNvPr id="25" name="Text 15">
              <a:extLst>
                <a:ext uri="{FF2B5EF4-FFF2-40B4-BE49-F238E27FC236}">
                  <a16:creationId xmlns:a16="http://schemas.microsoft.com/office/drawing/2014/main" id="{06A22865-C242-55FF-C1CD-9FEC03D983D1}"/>
                </a:ext>
              </a:extLst>
            </p:cNvPr>
            <p:cNvSpPr/>
            <p:nvPr/>
          </p:nvSpPr>
          <p:spPr>
            <a:xfrm>
              <a:off x="483108" y="6881495"/>
              <a:ext cx="3886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73B86"/>
                  </a:solidFill>
                  <a:latin typeface="Arial Nova Light" panose="020B0304020202020204" pitchFamily="34" charset="0"/>
                </a:rPr>
                <a:t>Necesidad: una evaluación más objetiva, rápida y reproducible.</a:t>
              </a:r>
              <a:endParaRPr lang="en-US" sz="1200" dirty="0">
                <a:latin typeface="Arial Nova Light" panose="020B0304020202020204" pitchFamily="34" charset="0"/>
              </a:endParaRPr>
            </a:p>
          </p:txBody>
        </p:sp>
      </p:grpSp>
      <p:grpSp>
        <p:nvGrpSpPr>
          <p:cNvPr id="2062" name="Grupo 2061">
            <a:extLst>
              <a:ext uri="{FF2B5EF4-FFF2-40B4-BE49-F238E27FC236}">
                <a16:creationId xmlns:a16="http://schemas.microsoft.com/office/drawing/2014/main" id="{58EDEDEE-99E9-5EA2-5AFE-272C60339CCB}"/>
              </a:ext>
            </a:extLst>
          </p:cNvPr>
          <p:cNvGrpSpPr/>
          <p:nvPr/>
        </p:nvGrpSpPr>
        <p:grpSpPr>
          <a:xfrm>
            <a:off x="5141724" y="948095"/>
            <a:ext cx="5187722" cy="2461681"/>
            <a:chOff x="4991100" y="1852295"/>
            <a:chExt cx="3429000" cy="2816352"/>
          </a:xfrm>
        </p:grpSpPr>
        <p:sp>
          <p:nvSpPr>
            <p:cNvPr id="26" name="Shape 16">
              <a:extLst>
                <a:ext uri="{FF2B5EF4-FFF2-40B4-BE49-F238E27FC236}">
                  <a16:creationId xmlns:a16="http://schemas.microsoft.com/office/drawing/2014/main" id="{55B08EDD-139D-C60B-1E79-418EBCCBDD98}"/>
                </a:ext>
              </a:extLst>
            </p:cNvPr>
            <p:cNvSpPr/>
            <p:nvPr/>
          </p:nvSpPr>
          <p:spPr>
            <a:xfrm>
              <a:off x="4991100" y="1852295"/>
              <a:ext cx="3429000" cy="2816352"/>
            </a:xfrm>
            <a:prstGeom prst="roundRect">
              <a:avLst>
                <a:gd name="adj" fmla="val 2597"/>
              </a:avLst>
            </a:prstGeom>
            <a:solidFill>
              <a:srgbClr val="FFFFFF"/>
            </a:solidFill>
            <a:ln w="13970">
              <a:solidFill>
                <a:srgbClr val="B8C7D9"/>
              </a:solidFill>
              <a:prstDash val="solid"/>
            </a:ln>
            <a:effectLst>
              <a:outerShdw blurRad="19050" dist="8890" dir="27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7" name="Shape 17">
              <a:extLst>
                <a:ext uri="{FF2B5EF4-FFF2-40B4-BE49-F238E27FC236}">
                  <a16:creationId xmlns:a16="http://schemas.microsoft.com/office/drawing/2014/main" id="{80650107-3337-3E43-F171-D314DBA3D58C}"/>
                </a:ext>
              </a:extLst>
            </p:cNvPr>
            <p:cNvSpPr/>
            <p:nvPr/>
          </p:nvSpPr>
          <p:spPr>
            <a:xfrm>
              <a:off x="4991100" y="1852295"/>
              <a:ext cx="3429000" cy="438912"/>
            </a:xfrm>
            <a:prstGeom prst="roundRect">
              <a:avLst>
                <a:gd name="adj" fmla="val 12500"/>
              </a:avLst>
            </a:prstGeom>
            <a:solidFill>
              <a:srgbClr val="073B86"/>
            </a:solidFill>
            <a:ln w="12700">
              <a:solidFill>
                <a:srgbClr val="073B86">
                  <a:alpha val="0"/>
                </a:srgbClr>
              </a:solidFill>
              <a:prstDash val="solid"/>
            </a:ln>
          </p:spPr>
        </p:sp>
        <p:sp>
          <p:nvSpPr>
            <p:cNvPr id="28" name="Text 18">
              <a:extLst>
                <a:ext uri="{FF2B5EF4-FFF2-40B4-BE49-F238E27FC236}">
                  <a16:creationId xmlns:a16="http://schemas.microsoft.com/office/drawing/2014/main" id="{9F47725D-2021-7FCA-1539-3886A7867F6E}"/>
                </a:ext>
              </a:extLst>
            </p:cNvPr>
            <p:cNvSpPr/>
            <p:nvPr/>
          </p:nvSpPr>
          <p:spPr>
            <a:xfrm>
              <a:off x="5155692" y="1952879"/>
              <a:ext cx="309981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  <a:latin typeface="Arial Nova Light" panose="020B0304020202020204" pitchFamily="34" charset="0"/>
                  <a:ea typeface="Aptos Display" pitchFamily="34" charset="-122"/>
                  <a:cs typeface="Aptos Display" pitchFamily="34" charset="-120"/>
                </a:rPr>
                <a:t>2. Enfoque con CNN</a:t>
              </a:r>
              <a:endParaRPr lang="en-US" dirty="0">
                <a:latin typeface="Arial Nova Light" panose="020B0304020202020204" pitchFamily="34" charset="0"/>
              </a:endParaRPr>
            </a:p>
          </p:txBody>
        </p:sp>
        <p:pic>
          <p:nvPicPr>
            <p:cNvPr id="29" name="Image 4" descr="preencoded.png">
              <a:extLst>
                <a:ext uri="{FF2B5EF4-FFF2-40B4-BE49-F238E27FC236}">
                  <a16:creationId xmlns:a16="http://schemas.microsoft.com/office/drawing/2014/main" id="{6B296CF1-FCAE-3740-4A15-186538E031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325113" y="2428367"/>
              <a:ext cx="467298" cy="685800"/>
            </a:xfrm>
            <a:prstGeom prst="rect">
              <a:avLst/>
            </a:prstGeom>
          </p:spPr>
        </p:pic>
        <p:sp>
          <p:nvSpPr>
            <p:cNvPr id="30" name="Text 19">
              <a:extLst>
                <a:ext uri="{FF2B5EF4-FFF2-40B4-BE49-F238E27FC236}">
                  <a16:creationId xmlns:a16="http://schemas.microsoft.com/office/drawing/2014/main" id="{E27FA2EB-6D56-E16A-1F92-1650EDA4BB17}"/>
                </a:ext>
              </a:extLst>
            </p:cNvPr>
            <p:cNvSpPr/>
            <p:nvPr/>
          </p:nvSpPr>
          <p:spPr>
            <a:xfrm>
              <a:off x="5982445" y="2508007"/>
              <a:ext cx="1975104" cy="658368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 fontScale="92500" lnSpcReduction="10000"/>
            </a:bodyPr>
            <a:lstStyle/>
            <a:p>
              <a:pPr marL="0" indent="0" algn="just">
                <a:buNone/>
              </a:pPr>
              <a:r>
                <a:rPr lang="en-US" sz="1400" b="1" dirty="0">
                  <a:solidFill>
                    <a:srgbClr val="1C2733"/>
                  </a:solidFill>
                  <a:latin typeface="Arial Nova Light" panose="020B0304020202020204" pitchFamily="34" charset="0"/>
                </a:rPr>
                <a:t>Visión por computadora y Redes Neuronales Convolucionales para clasificar imágenes con / sin fisura.</a:t>
              </a:r>
              <a:endParaRPr lang="en-US" sz="1400" dirty="0">
                <a:latin typeface="Arial Nova Light" panose="020B0304020202020204" pitchFamily="34" charset="0"/>
              </a:endParaRPr>
            </a:p>
          </p:txBody>
        </p:sp>
        <p:sp>
          <p:nvSpPr>
            <p:cNvPr id="31" name="Text 20">
              <a:extLst>
                <a:ext uri="{FF2B5EF4-FFF2-40B4-BE49-F238E27FC236}">
                  <a16:creationId xmlns:a16="http://schemas.microsoft.com/office/drawing/2014/main" id="{4E29324D-9DAC-C76F-A570-4018B905854C}"/>
                </a:ext>
              </a:extLst>
            </p:cNvPr>
            <p:cNvSpPr/>
            <p:nvPr/>
          </p:nvSpPr>
          <p:spPr>
            <a:xfrm>
              <a:off x="5331883" y="3240464"/>
              <a:ext cx="2788920" cy="4297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C6675"/>
                  </a:solidFill>
                  <a:latin typeface="Arial Nova Light" panose="020B0304020202020204" pitchFamily="34" charset="0"/>
                </a:rPr>
                <a:t>CNN aprende características relevantes sin diseñar manualmente descriptores de textura o geometría.</a:t>
              </a:r>
              <a:endParaRPr lang="en-US" sz="1200" dirty="0">
                <a:latin typeface="Arial Nova Light" panose="020B0304020202020204" pitchFamily="34" charset="0"/>
              </a:endParaRPr>
            </a:p>
          </p:txBody>
        </p:sp>
        <p:sp>
          <p:nvSpPr>
            <p:cNvPr id="32" name="Shape 21">
              <a:extLst>
                <a:ext uri="{FF2B5EF4-FFF2-40B4-BE49-F238E27FC236}">
                  <a16:creationId xmlns:a16="http://schemas.microsoft.com/office/drawing/2014/main" id="{9C03575E-598E-6974-25C6-C219A0DB9E1D}"/>
                </a:ext>
              </a:extLst>
            </p:cNvPr>
            <p:cNvSpPr/>
            <p:nvPr/>
          </p:nvSpPr>
          <p:spPr>
            <a:xfrm>
              <a:off x="5265420" y="3891407"/>
              <a:ext cx="749808" cy="301752"/>
            </a:xfrm>
            <a:prstGeom prst="roundRect">
              <a:avLst>
                <a:gd name="adj" fmla="val 24242"/>
              </a:avLst>
            </a:prstGeom>
            <a:solidFill>
              <a:srgbClr val="073B86"/>
            </a:solidFill>
            <a:ln w="12700">
              <a:solidFill>
                <a:srgbClr val="073B86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s-PE" dirty="0"/>
            </a:p>
          </p:txBody>
        </p:sp>
        <p:sp>
          <p:nvSpPr>
            <p:cNvPr id="33" name="Text 22">
              <a:extLst>
                <a:ext uri="{FF2B5EF4-FFF2-40B4-BE49-F238E27FC236}">
                  <a16:creationId xmlns:a16="http://schemas.microsoft.com/office/drawing/2014/main" id="{AF9BC04A-EDEB-50B0-187A-FC17BCB1772D}"/>
                </a:ext>
              </a:extLst>
            </p:cNvPr>
            <p:cNvSpPr/>
            <p:nvPr/>
          </p:nvSpPr>
          <p:spPr>
            <a:xfrm>
              <a:off x="5311140" y="3964558"/>
              <a:ext cx="658368" cy="2074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rial Nova Light" panose="020B0304020202020204" pitchFamily="34" charset="0"/>
                </a:rPr>
                <a:t>IA</a:t>
              </a:r>
              <a:endParaRPr lang="en-US" sz="1200" dirty="0">
                <a:latin typeface="Arial Nova Light" panose="020B0304020202020204" pitchFamily="34" charset="0"/>
              </a:endParaRPr>
            </a:p>
          </p:txBody>
        </p:sp>
        <p:sp>
          <p:nvSpPr>
            <p:cNvPr id="34" name="Shape 23">
              <a:extLst>
                <a:ext uri="{FF2B5EF4-FFF2-40B4-BE49-F238E27FC236}">
                  <a16:creationId xmlns:a16="http://schemas.microsoft.com/office/drawing/2014/main" id="{3159B674-0CC2-4B44-123B-1F255CDFBF6B}"/>
                </a:ext>
              </a:extLst>
            </p:cNvPr>
            <p:cNvSpPr/>
            <p:nvPr/>
          </p:nvSpPr>
          <p:spPr>
            <a:xfrm>
              <a:off x="6115812" y="3891407"/>
              <a:ext cx="912178" cy="301753"/>
            </a:xfrm>
            <a:prstGeom prst="roundRect">
              <a:avLst>
                <a:gd name="adj" fmla="val 24242"/>
              </a:avLst>
            </a:prstGeom>
            <a:solidFill>
              <a:srgbClr val="1D5AA6"/>
            </a:solidFill>
            <a:ln w="12700">
              <a:solidFill>
                <a:srgbClr val="1D5AA6">
                  <a:alpha val="0"/>
                </a:srgbClr>
              </a:solidFill>
              <a:prstDash val="solid"/>
            </a:ln>
          </p:spPr>
        </p:sp>
        <p:sp>
          <p:nvSpPr>
            <p:cNvPr id="35" name="Text 24">
              <a:extLst>
                <a:ext uri="{FF2B5EF4-FFF2-40B4-BE49-F238E27FC236}">
                  <a16:creationId xmlns:a16="http://schemas.microsoft.com/office/drawing/2014/main" id="{7B3C3C96-2393-77B3-AF52-8381874B8D06}"/>
                </a:ext>
              </a:extLst>
            </p:cNvPr>
            <p:cNvSpPr/>
            <p:nvPr/>
          </p:nvSpPr>
          <p:spPr>
            <a:xfrm>
              <a:off x="6161532" y="3964559"/>
              <a:ext cx="8686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 Nova Light" panose="020B0304020202020204" pitchFamily="34" charset="0"/>
                </a:rPr>
                <a:t>TensorFlow</a:t>
              </a:r>
              <a:endParaRPr lang="en-US" sz="1100" dirty="0">
                <a:latin typeface="Arial Nova Light" panose="020B0304020202020204" pitchFamily="34" charset="0"/>
              </a:endParaRPr>
            </a:p>
          </p:txBody>
        </p:sp>
        <p:sp>
          <p:nvSpPr>
            <p:cNvPr id="36" name="Shape 25">
              <a:extLst>
                <a:ext uri="{FF2B5EF4-FFF2-40B4-BE49-F238E27FC236}">
                  <a16:creationId xmlns:a16="http://schemas.microsoft.com/office/drawing/2014/main" id="{3783B2C4-372C-3A10-B98E-155745FA0C08}"/>
                </a:ext>
              </a:extLst>
            </p:cNvPr>
            <p:cNvSpPr/>
            <p:nvPr/>
          </p:nvSpPr>
          <p:spPr>
            <a:xfrm>
              <a:off x="7176516" y="3891407"/>
              <a:ext cx="804672" cy="301752"/>
            </a:xfrm>
            <a:prstGeom prst="roundRect">
              <a:avLst>
                <a:gd name="adj" fmla="val 24242"/>
              </a:avLst>
            </a:prstGeom>
            <a:solidFill>
              <a:srgbClr val="64A156"/>
            </a:solidFill>
            <a:ln w="12700">
              <a:solidFill>
                <a:srgbClr val="64A156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s-PE" dirty="0">
                <a:latin typeface="Arial Nova Light" panose="020B0304020202020204" pitchFamily="34" charset="0"/>
              </a:endParaRPr>
            </a:p>
          </p:txBody>
        </p:sp>
        <p:sp>
          <p:nvSpPr>
            <p:cNvPr id="37" name="Text 26">
              <a:extLst>
                <a:ext uri="{FF2B5EF4-FFF2-40B4-BE49-F238E27FC236}">
                  <a16:creationId xmlns:a16="http://schemas.microsoft.com/office/drawing/2014/main" id="{419EF4F6-1D51-6D98-C277-9B680CA2FE7D}"/>
                </a:ext>
              </a:extLst>
            </p:cNvPr>
            <p:cNvSpPr/>
            <p:nvPr/>
          </p:nvSpPr>
          <p:spPr>
            <a:xfrm>
              <a:off x="7222236" y="3964559"/>
              <a:ext cx="713232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Arial Nova Light" panose="020B0304020202020204" pitchFamily="34" charset="0"/>
                </a:rPr>
                <a:t>CNN</a:t>
              </a:r>
              <a:endParaRPr lang="en-US" sz="1050" dirty="0">
                <a:latin typeface="Arial Nova Light" panose="020B0304020202020204" pitchFamily="34" charset="0"/>
              </a:endParaRPr>
            </a:p>
          </p:txBody>
        </p:sp>
      </p:grpSp>
      <p:grpSp>
        <p:nvGrpSpPr>
          <p:cNvPr id="2064" name="Grupo 2063">
            <a:extLst>
              <a:ext uri="{FF2B5EF4-FFF2-40B4-BE49-F238E27FC236}">
                <a16:creationId xmlns:a16="http://schemas.microsoft.com/office/drawing/2014/main" id="{D6F424C2-26B7-951B-35C8-96068501DA9D}"/>
              </a:ext>
            </a:extLst>
          </p:cNvPr>
          <p:cNvGrpSpPr/>
          <p:nvPr/>
        </p:nvGrpSpPr>
        <p:grpSpPr>
          <a:xfrm>
            <a:off x="5144797" y="3651636"/>
            <a:ext cx="6675120" cy="2606040"/>
            <a:chOff x="4991100" y="4897247"/>
            <a:chExt cx="6675120" cy="2606040"/>
          </a:xfrm>
        </p:grpSpPr>
        <p:sp>
          <p:nvSpPr>
            <p:cNvPr id="46" name="Shape 33">
              <a:extLst>
                <a:ext uri="{FF2B5EF4-FFF2-40B4-BE49-F238E27FC236}">
                  <a16:creationId xmlns:a16="http://schemas.microsoft.com/office/drawing/2014/main" id="{83A47D2F-E760-D9EE-F576-FC1314041F5E}"/>
                </a:ext>
              </a:extLst>
            </p:cNvPr>
            <p:cNvSpPr/>
            <p:nvPr/>
          </p:nvSpPr>
          <p:spPr>
            <a:xfrm>
              <a:off x="4991100" y="4897247"/>
              <a:ext cx="6675120" cy="2606040"/>
            </a:xfrm>
            <a:prstGeom prst="roundRect">
              <a:avLst>
                <a:gd name="adj" fmla="val 2807"/>
              </a:avLst>
            </a:prstGeom>
            <a:solidFill>
              <a:srgbClr val="FFFFFF"/>
            </a:solidFill>
            <a:ln w="13970">
              <a:solidFill>
                <a:srgbClr val="B8C7D9"/>
              </a:solidFill>
              <a:prstDash val="solid"/>
            </a:ln>
            <a:effectLst>
              <a:outerShdw blurRad="19050" dist="8890" dir="27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47" name="Shape 34">
              <a:extLst>
                <a:ext uri="{FF2B5EF4-FFF2-40B4-BE49-F238E27FC236}">
                  <a16:creationId xmlns:a16="http://schemas.microsoft.com/office/drawing/2014/main" id="{47E9FBB5-FE40-5BBB-C74B-D6A39F56531E}"/>
                </a:ext>
              </a:extLst>
            </p:cNvPr>
            <p:cNvSpPr/>
            <p:nvPr/>
          </p:nvSpPr>
          <p:spPr>
            <a:xfrm>
              <a:off x="4991100" y="4897247"/>
              <a:ext cx="6675120" cy="438912"/>
            </a:xfrm>
            <a:prstGeom prst="roundRect">
              <a:avLst>
                <a:gd name="adj" fmla="val 12500"/>
              </a:avLst>
            </a:prstGeom>
            <a:solidFill>
              <a:srgbClr val="073B86"/>
            </a:solidFill>
            <a:ln w="12700">
              <a:solidFill>
                <a:srgbClr val="073B86">
                  <a:alpha val="0"/>
                </a:srgbClr>
              </a:solidFill>
              <a:prstDash val="solid"/>
            </a:ln>
          </p:spPr>
        </p:sp>
        <p:sp>
          <p:nvSpPr>
            <p:cNvPr id="48" name="Text 35">
              <a:extLst>
                <a:ext uri="{FF2B5EF4-FFF2-40B4-BE49-F238E27FC236}">
                  <a16:creationId xmlns:a16="http://schemas.microsoft.com/office/drawing/2014/main" id="{7E2573E2-CF69-032E-8A32-3E4B547D51D5}"/>
                </a:ext>
              </a:extLst>
            </p:cNvPr>
            <p:cNvSpPr/>
            <p:nvPr/>
          </p:nvSpPr>
          <p:spPr>
            <a:xfrm>
              <a:off x="5155692" y="4997831"/>
              <a:ext cx="634593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  <a:latin typeface="Arial Nova Light" panose="020B0304020202020204" pitchFamily="34" charset="0"/>
                  <a:ea typeface="Aptos Display" pitchFamily="34" charset="-122"/>
                  <a:cs typeface="Aptos Display" pitchFamily="34" charset="-120"/>
                </a:rPr>
                <a:t>3. Desarrollo del modelo y aporte</a:t>
              </a:r>
              <a:endParaRPr lang="en-US" dirty="0">
                <a:latin typeface="Arial Nova Light" panose="020B0304020202020204" pitchFamily="34" charset="0"/>
              </a:endParaRPr>
            </a:p>
          </p:txBody>
        </p:sp>
        <p:sp>
          <p:nvSpPr>
            <p:cNvPr id="50" name="Text 37">
              <a:extLst>
                <a:ext uri="{FF2B5EF4-FFF2-40B4-BE49-F238E27FC236}">
                  <a16:creationId xmlns:a16="http://schemas.microsoft.com/office/drawing/2014/main" id="{9750F597-5C6A-AA2F-EED1-C66DC27EBF4D}"/>
                </a:ext>
              </a:extLst>
            </p:cNvPr>
            <p:cNvSpPr/>
            <p:nvPr/>
          </p:nvSpPr>
          <p:spPr>
            <a:xfrm>
              <a:off x="5265420" y="5665343"/>
              <a:ext cx="39319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Arial Nova Light" panose="020B0304020202020204" pitchFamily="34" charset="0"/>
                </a:rPr>
                <a:t>1</a:t>
              </a:r>
              <a:endParaRPr lang="en-US" sz="950" dirty="0">
                <a:latin typeface="Arial Nova Light" panose="020B0304020202020204" pitchFamily="34" charset="0"/>
              </a:endParaRPr>
            </a:p>
          </p:txBody>
        </p:sp>
        <p:sp>
          <p:nvSpPr>
            <p:cNvPr id="54" name="Text 41">
              <a:extLst>
                <a:ext uri="{FF2B5EF4-FFF2-40B4-BE49-F238E27FC236}">
                  <a16:creationId xmlns:a16="http://schemas.microsoft.com/office/drawing/2014/main" id="{EB7902C2-F3F1-29C4-A13A-BEE62EEC7B8F}"/>
                </a:ext>
              </a:extLst>
            </p:cNvPr>
            <p:cNvSpPr/>
            <p:nvPr/>
          </p:nvSpPr>
          <p:spPr>
            <a:xfrm>
              <a:off x="6938772" y="5665343"/>
              <a:ext cx="39319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Arial Nova Light" panose="020B0304020202020204" pitchFamily="34" charset="0"/>
                </a:rPr>
                <a:t>2</a:t>
              </a:r>
              <a:endParaRPr lang="en-US" sz="950" dirty="0">
                <a:latin typeface="Arial Nova Light" panose="020B0304020202020204" pitchFamily="34" charset="0"/>
              </a:endParaRPr>
            </a:p>
          </p:txBody>
        </p:sp>
        <p:sp>
          <p:nvSpPr>
            <p:cNvPr id="58" name="Text 45">
              <a:extLst>
                <a:ext uri="{FF2B5EF4-FFF2-40B4-BE49-F238E27FC236}">
                  <a16:creationId xmlns:a16="http://schemas.microsoft.com/office/drawing/2014/main" id="{FDD1D360-C14A-52C1-BFA2-C7715ABE0AD3}"/>
                </a:ext>
              </a:extLst>
            </p:cNvPr>
            <p:cNvSpPr/>
            <p:nvPr/>
          </p:nvSpPr>
          <p:spPr>
            <a:xfrm>
              <a:off x="8602980" y="5665343"/>
              <a:ext cx="39319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Arial Nova Light" panose="020B0304020202020204" pitchFamily="34" charset="0"/>
                </a:rPr>
                <a:t>3</a:t>
              </a:r>
              <a:endParaRPr lang="en-US" sz="950" dirty="0">
                <a:latin typeface="Arial Nova Light" panose="020B0304020202020204" pitchFamily="34" charset="0"/>
              </a:endParaRPr>
            </a:p>
          </p:txBody>
        </p:sp>
        <p:sp>
          <p:nvSpPr>
            <p:cNvPr id="62" name="Text 49">
              <a:extLst>
                <a:ext uri="{FF2B5EF4-FFF2-40B4-BE49-F238E27FC236}">
                  <a16:creationId xmlns:a16="http://schemas.microsoft.com/office/drawing/2014/main" id="{A5426043-63D8-F1FF-253C-86B9B473F270}"/>
                </a:ext>
              </a:extLst>
            </p:cNvPr>
            <p:cNvSpPr/>
            <p:nvPr/>
          </p:nvSpPr>
          <p:spPr>
            <a:xfrm>
              <a:off x="10175748" y="5665343"/>
              <a:ext cx="39319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Arial Nova Light" panose="020B0304020202020204" pitchFamily="34" charset="0"/>
                </a:rPr>
                <a:t>4</a:t>
              </a:r>
              <a:endParaRPr lang="en-US" sz="950" dirty="0">
                <a:latin typeface="Arial Nova Light" panose="020B0304020202020204" pitchFamily="34" charset="0"/>
              </a:endParaRPr>
            </a:p>
          </p:txBody>
        </p:sp>
        <p:sp>
          <p:nvSpPr>
            <p:cNvPr id="2053" name="Shape 55">
              <a:extLst>
                <a:ext uri="{FF2B5EF4-FFF2-40B4-BE49-F238E27FC236}">
                  <a16:creationId xmlns:a16="http://schemas.microsoft.com/office/drawing/2014/main" id="{0F5E4D45-DD7A-B1E4-CA50-FBD8D23FE336}"/>
                </a:ext>
              </a:extLst>
            </p:cNvPr>
            <p:cNvSpPr/>
            <p:nvPr/>
          </p:nvSpPr>
          <p:spPr>
            <a:xfrm>
              <a:off x="5311140" y="6588887"/>
              <a:ext cx="5943600" cy="0"/>
            </a:xfrm>
            <a:prstGeom prst="line">
              <a:avLst/>
            </a:prstGeom>
            <a:noFill/>
            <a:ln w="12700">
              <a:solidFill>
                <a:srgbClr val="D8E5F3"/>
              </a:solidFill>
              <a:prstDash val="solid"/>
            </a:ln>
          </p:spPr>
        </p:sp>
        <p:sp>
          <p:nvSpPr>
            <p:cNvPr id="2054" name="Text 56">
              <a:extLst>
                <a:ext uri="{FF2B5EF4-FFF2-40B4-BE49-F238E27FC236}">
                  <a16:creationId xmlns:a16="http://schemas.microsoft.com/office/drawing/2014/main" id="{52BBC3F6-42F8-7F0E-1154-989C98D022D7}"/>
                </a:ext>
              </a:extLst>
            </p:cNvPr>
            <p:cNvSpPr/>
            <p:nvPr/>
          </p:nvSpPr>
          <p:spPr>
            <a:xfrm>
              <a:off x="5311140" y="6753479"/>
              <a:ext cx="5989320" cy="40233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C2733"/>
                  </a:solidFill>
                  <a:latin typeface="Arial Nova Light" panose="020B0304020202020204" pitchFamily="34" charset="0"/>
                </a:rPr>
                <a:t>Aporte esperado: apoyar inspecciones estructurales con resultados más objetivos, rápidos y reproducibles, y servir como base para monitoreo automatizado de infraestructura civil.</a:t>
              </a:r>
              <a:endParaRPr lang="en-US" sz="1000" dirty="0">
                <a:latin typeface="Arial Nova Light" panose="020B0304020202020204" pitchFamily="34" charset="0"/>
              </a:endParaRPr>
            </a:p>
          </p:txBody>
        </p:sp>
        <p:sp>
          <p:nvSpPr>
            <p:cNvPr id="2055" name="Text 57">
              <a:extLst>
                <a:ext uri="{FF2B5EF4-FFF2-40B4-BE49-F238E27FC236}">
                  <a16:creationId xmlns:a16="http://schemas.microsoft.com/office/drawing/2014/main" id="{733AC1A3-617C-C2C5-F640-D6E047230DC4}"/>
                </a:ext>
              </a:extLst>
            </p:cNvPr>
            <p:cNvSpPr/>
            <p:nvPr/>
          </p:nvSpPr>
          <p:spPr>
            <a:xfrm>
              <a:off x="9499092" y="5144135"/>
              <a:ext cx="19019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20" b="1" dirty="0">
                  <a:solidFill>
                    <a:srgbClr val="073B86"/>
                  </a:solidFill>
                  <a:latin typeface="Arial Nova Light" panose="020B0304020202020204" pitchFamily="34" charset="0"/>
                </a:rPr>
                <a:t>Distribución del dataset</a:t>
              </a:r>
              <a:endParaRPr lang="en-US" sz="920" dirty="0">
                <a:latin typeface="Arial Nova Light" panose="020B0304020202020204" pitchFamily="34" charset="0"/>
              </a:endParaRPr>
            </a:p>
          </p:txBody>
        </p:sp>
      </p:grpSp>
      <p:grpSp>
        <p:nvGrpSpPr>
          <p:cNvPr id="2092" name="Grupo 2091">
            <a:extLst>
              <a:ext uri="{FF2B5EF4-FFF2-40B4-BE49-F238E27FC236}">
                <a16:creationId xmlns:a16="http://schemas.microsoft.com/office/drawing/2014/main" id="{3D806C18-D222-B83F-63B1-9DD0F8D20851}"/>
              </a:ext>
            </a:extLst>
          </p:cNvPr>
          <p:cNvGrpSpPr/>
          <p:nvPr/>
        </p:nvGrpSpPr>
        <p:grpSpPr>
          <a:xfrm>
            <a:off x="5291005" y="4379548"/>
            <a:ext cx="5991411" cy="886462"/>
            <a:chOff x="5779008" y="6349782"/>
            <a:chExt cx="10515600" cy="1446365"/>
          </a:xfrm>
        </p:grpSpPr>
        <p:sp>
          <p:nvSpPr>
            <p:cNvPr id="2065" name="Shape 4">
              <a:extLst>
                <a:ext uri="{FF2B5EF4-FFF2-40B4-BE49-F238E27FC236}">
                  <a16:creationId xmlns:a16="http://schemas.microsoft.com/office/drawing/2014/main" id="{6B3749D5-DF8F-BCC2-57C2-05635F243585}"/>
                </a:ext>
              </a:extLst>
            </p:cNvPr>
            <p:cNvSpPr/>
            <p:nvPr/>
          </p:nvSpPr>
          <p:spPr>
            <a:xfrm>
              <a:off x="5779008" y="6378823"/>
              <a:ext cx="2423159" cy="141732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3970">
              <a:solidFill>
                <a:srgbClr val="D7E4F2"/>
              </a:solidFill>
              <a:prstDash val="solid"/>
            </a:ln>
            <a:effectLst>
              <a:outerShdw blurRad="15240" dist="7620" dir="27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066" name="Shape 5">
              <a:extLst>
                <a:ext uri="{FF2B5EF4-FFF2-40B4-BE49-F238E27FC236}">
                  <a16:creationId xmlns:a16="http://schemas.microsoft.com/office/drawing/2014/main" id="{8945104B-B136-8ADF-CC71-8A1958B936F9}"/>
                </a:ext>
              </a:extLst>
            </p:cNvPr>
            <p:cNvSpPr/>
            <p:nvPr/>
          </p:nvSpPr>
          <p:spPr>
            <a:xfrm>
              <a:off x="5943601" y="6561706"/>
              <a:ext cx="438911" cy="340609"/>
            </a:xfrm>
            <a:prstGeom prst="ellipse">
              <a:avLst/>
            </a:prstGeom>
            <a:solidFill>
              <a:srgbClr val="073B86"/>
            </a:solidFill>
            <a:ln w="12700">
              <a:solidFill>
                <a:srgbClr val="073B86"/>
              </a:solidFill>
              <a:prstDash val="solid"/>
            </a:ln>
          </p:spPr>
        </p:sp>
        <p:sp>
          <p:nvSpPr>
            <p:cNvPr id="2067" name="Text 6">
              <a:extLst>
                <a:ext uri="{FF2B5EF4-FFF2-40B4-BE49-F238E27FC236}">
                  <a16:creationId xmlns:a16="http://schemas.microsoft.com/office/drawing/2014/main" id="{055AE921-512F-8BD7-1A4E-C8AA5D24266F}"/>
                </a:ext>
              </a:extLst>
            </p:cNvPr>
            <p:cNvSpPr/>
            <p:nvPr/>
          </p:nvSpPr>
          <p:spPr>
            <a:xfrm>
              <a:off x="5943600" y="6671433"/>
              <a:ext cx="438912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rial Nova Light" panose="020B0304020202020204" pitchFamily="34" charset="0"/>
                </a:rPr>
                <a:t>1</a:t>
              </a:r>
              <a:endParaRPr lang="en-US" sz="900" dirty="0">
                <a:latin typeface="Arial Nova Light" panose="020B0304020202020204" pitchFamily="34" charset="0"/>
              </a:endParaRPr>
            </a:p>
          </p:txBody>
        </p:sp>
        <p:pic>
          <p:nvPicPr>
            <p:cNvPr id="2068" name="Image 0" descr="preencoded.png">
              <a:extLst>
                <a:ext uri="{FF2B5EF4-FFF2-40B4-BE49-F238E27FC236}">
                  <a16:creationId xmlns:a16="http://schemas.microsoft.com/office/drawing/2014/main" id="{BBEA5027-F3FC-3002-9F7B-E38A532353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748634" y="6463070"/>
              <a:ext cx="665561" cy="665564"/>
            </a:xfrm>
            <a:prstGeom prst="rect">
              <a:avLst/>
            </a:prstGeom>
          </p:spPr>
        </p:pic>
        <p:sp>
          <p:nvSpPr>
            <p:cNvPr id="2069" name="Text 7">
              <a:extLst>
                <a:ext uri="{FF2B5EF4-FFF2-40B4-BE49-F238E27FC236}">
                  <a16:creationId xmlns:a16="http://schemas.microsoft.com/office/drawing/2014/main" id="{4501EEDF-0231-E6FB-79DA-039CC91D351F}"/>
                </a:ext>
              </a:extLst>
            </p:cNvPr>
            <p:cNvSpPr/>
            <p:nvPr/>
          </p:nvSpPr>
          <p:spPr>
            <a:xfrm>
              <a:off x="5984330" y="7044336"/>
              <a:ext cx="2093976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C2733"/>
                  </a:solidFill>
                  <a:latin typeface="Arial Nova Light" panose="020B0304020202020204" pitchFamily="34" charset="0"/>
                </a:rPr>
                <a:t>Preparar datos</a:t>
              </a:r>
              <a:endParaRPr lang="en-US" sz="1100" dirty="0">
                <a:latin typeface="Arial Nova Light" panose="020B0304020202020204" pitchFamily="34" charset="0"/>
              </a:endParaRPr>
            </a:p>
          </p:txBody>
        </p:sp>
        <p:sp>
          <p:nvSpPr>
            <p:cNvPr id="2070" name="Text 8">
              <a:extLst>
                <a:ext uri="{FF2B5EF4-FFF2-40B4-BE49-F238E27FC236}">
                  <a16:creationId xmlns:a16="http://schemas.microsoft.com/office/drawing/2014/main" id="{0244E8BA-6596-8C92-80BF-0E0232426A6A}"/>
                </a:ext>
              </a:extLst>
            </p:cNvPr>
            <p:cNvSpPr/>
            <p:nvPr/>
          </p:nvSpPr>
          <p:spPr>
            <a:xfrm>
              <a:off x="5943600" y="7366377"/>
              <a:ext cx="2093976" cy="25603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5C6675"/>
                  </a:solidFill>
                  <a:latin typeface="Arial Nova Light" panose="020B0304020202020204" pitchFamily="34" charset="0"/>
                </a:rPr>
                <a:t>Limpieza, organización y división del dataset.</a:t>
              </a:r>
              <a:endParaRPr lang="en-US" sz="800" dirty="0">
                <a:latin typeface="Arial Nova Light" panose="020B0304020202020204" pitchFamily="34" charset="0"/>
              </a:endParaRPr>
            </a:p>
          </p:txBody>
        </p:sp>
        <p:sp>
          <p:nvSpPr>
            <p:cNvPr id="2071" name="Shape 9">
              <a:extLst>
                <a:ext uri="{FF2B5EF4-FFF2-40B4-BE49-F238E27FC236}">
                  <a16:creationId xmlns:a16="http://schemas.microsoft.com/office/drawing/2014/main" id="{0DFECFC3-FC93-5C23-5FCE-EEE330EDD36F}"/>
                </a:ext>
              </a:extLst>
            </p:cNvPr>
            <p:cNvSpPr/>
            <p:nvPr/>
          </p:nvSpPr>
          <p:spPr>
            <a:xfrm>
              <a:off x="8476488" y="6378827"/>
              <a:ext cx="2423159" cy="141732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3970">
              <a:solidFill>
                <a:srgbClr val="D7E4F2"/>
              </a:solidFill>
              <a:prstDash val="solid"/>
            </a:ln>
            <a:effectLst>
              <a:outerShdw blurRad="15240" dist="7620" dir="27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072" name="Shape 10">
              <a:extLst>
                <a:ext uri="{FF2B5EF4-FFF2-40B4-BE49-F238E27FC236}">
                  <a16:creationId xmlns:a16="http://schemas.microsoft.com/office/drawing/2014/main" id="{F7BACF26-A274-4CA6-DAF4-71F68B7CDC25}"/>
                </a:ext>
              </a:extLst>
            </p:cNvPr>
            <p:cNvSpPr/>
            <p:nvPr/>
          </p:nvSpPr>
          <p:spPr>
            <a:xfrm>
              <a:off x="8632780" y="6561704"/>
              <a:ext cx="438911" cy="340611"/>
            </a:xfrm>
            <a:prstGeom prst="ellipse">
              <a:avLst/>
            </a:prstGeom>
            <a:solidFill>
              <a:srgbClr val="1D5AA6"/>
            </a:solidFill>
            <a:ln w="12700">
              <a:solidFill>
                <a:srgbClr val="1D5AA6"/>
              </a:solidFill>
              <a:prstDash val="solid"/>
            </a:ln>
          </p:spPr>
        </p:sp>
        <p:sp>
          <p:nvSpPr>
            <p:cNvPr id="2073" name="Text 11">
              <a:extLst>
                <a:ext uri="{FF2B5EF4-FFF2-40B4-BE49-F238E27FC236}">
                  <a16:creationId xmlns:a16="http://schemas.microsoft.com/office/drawing/2014/main" id="{3B8C2907-9CC5-02EB-E142-52C8F2C16470}"/>
                </a:ext>
              </a:extLst>
            </p:cNvPr>
            <p:cNvSpPr/>
            <p:nvPr/>
          </p:nvSpPr>
          <p:spPr>
            <a:xfrm>
              <a:off x="8641080" y="6671433"/>
              <a:ext cx="438912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rial Nova Light" panose="020B0304020202020204" pitchFamily="34" charset="0"/>
                </a:rPr>
                <a:t>2</a:t>
              </a:r>
              <a:endParaRPr lang="en-US" sz="900" dirty="0">
                <a:latin typeface="Arial Nova Light" panose="020B0304020202020204" pitchFamily="34" charset="0"/>
              </a:endParaRPr>
            </a:p>
          </p:txBody>
        </p:sp>
        <p:pic>
          <p:nvPicPr>
            <p:cNvPr id="2074" name="Image 1" descr="preencoded.png">
              <a:extLst>
                <a:ext uri="{FF2B5EF4-FFF2-40B4-BE49-F238E27FC236}">
                  <a16:creationId xmlns:a16="http://schemas.microsoft.com/office/drawing/2014/main" id="{D6EDFA4E-99D6-A35E-0B46-03F0D1ADB7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377127" y="6412989"/>
              <a:ext cx="813816" cy="813819"/>
            </a:xfrm>
            <a:prstGeom prst="rect">
              <a:avLst/>
            </a:prstGeom>
          </p:spPr>
        </p:pic>
        <p:sp>
          <p:nvSpPr>
            <p:cNvPr id="2075" name="Text 12">
              <a:extLst>
                <a:ext uri="{FF2B5EF4-FFF2-40B4-BE49-F238E27FC236}">
                  <a16:creationId xmlns:a16="http://schemas.microsoft.com/office/drawing/2014/main" id="{375501B5-EC3F-7685-2069-87154E8BECAA}"/>
                </a:ext>
              </a:extLst>
            </p:cNvPr>
            <p:cNvSpPr/>
            <p:nvPr/>
          </p:nvSpPr>
          <p:spPr>
            <a:xfrm>
              <a:off x="8641080" y="7128633"/>
              <a:ext cx="2093976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C2733"/>
                  </a:solidFill>
                  <a:latin typeface="Arial Nova Light" panose="020B0304020202020204" pitchFamily="34" charset="0"/>
                </a:rPr>
                <a:t>Entrenar CNN</a:t>
              </a:r>
              <a:endParaRPr lang="en-US" sz="1100" dirty="0">
                <a:latin typeface="Arial Nova Light" panose="020B0304020202020204" pitchFamily="34" charset="0"/>
              </a:endParaRPr>
            </a:p>
          </p:txBody>
        </p:sp>
        <p:sp>
          <p:nvSpPr>
            <p:cNvPr id="2076" name="Text 13">
              <a:extLst>
                <a:ext uri="{FF2B5EF4-FFF2-40B4-BE49-F238E27FC236}">
                  <a16:creationId xmlns:a16="http://schemas.microsoft.com/office/drawing/2014/main" id="{1E960F9C-C8D0-6837-69F3-C6EC4BA16F75}"/>
                </a:ext>
              </a:extLst>
            </p:cNvPr>
            <p:cNvSpPr/>
            <p:nvPr/>
          </p:nvSpPr>
          <p:spPr>
            <a:xfrm>
              <a:off x="8641080" y="7366377"/>
              <a:ext cx="2093976" cy="25603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5C6675"/>
                  </a:solidFill>
                  <a:latin typeface="Arial Nova Light" panose="020B0304020202020204" pitchFamily="34" charset="0"/>
                </a:rPr>
                <a:t>Clasificación binaria con TensorFlow.</a:t>
              </a:r>
              <a:endParaRPr lang="en-US" sz="800" dirty="0">
                <a:latin typeface="Arial Nova Light" panose="020B0304020202020204" pitchFamily="34" charset="0"/>
              </a:endParaRPr>
            </a:p>
          </p:txBody>
        </p:sp>
        <p:sp>
          <p:nvSpPr>
            <p:cNvPr id="2077" name="Shape 14">
              <a:extLst>
                <a:ext uri="{FF2B5EF4-FFF2-40B4-BE49-F238E27FC236}">
                  <a16:creationId xmlns:a16="http://schemas.microsoft.com/office/drawing/2014/main" id="{5B5255DA-A442-BA2E-9BED-DA7024AFDC7F}"/>
                </a:ext>
              </a:extLst>
            </p:cNvPr>
            <p:cNvSpPr/>
            <p:nvPr/>
          </p:nvSpPr>
          <p:spPr>
            <a:xfrm>
              <a:off x="11173968" y="6378825"/>
              <a:ext cx="2423160" cy="141732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3970">
              <a:solidFill>
                <a:srgbClr val="D7E4F2"/>
              </a:solidFill>
              <a:prstDash val="solid"/>
            </a:ln>
            <a:effectLst>
              <a:outerShdw blurRad="15240" dist="7620" dir="27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078" name="Shape 15">
              <a:extLst>
                <a:ext uri="{FF2B5EF4-FFF2-40B4-BE49-F238E27FC236}">
                  <a16:creationId xmlns:a16="http://schemas.microsoft.com/office/drawing/2014/main" id="{2427E24D-B578-2AE0-852F-C41E5B8E4BAE}"/>
                </a:ext>
              </a:extLst>
            </p:cNvPr>
            <p:cNvSpPr/>
            <p:nvPr/>
          </p:nvSpPr>
          <p:spPr>
            <a:xfrm>
              <a:off x="11338560" y="6512510"/>
              <a:ext cx="438911" cy="438913"/>
            </a:xfrm>
            <a:prstGeom prst="ellipse">
              <a:avLst/>
            </a:prstGeom>
            <a:solidFill>
              <a:srgbClr val="64A156"/>
            </a:solidFill>
            <a:ln w="12700">
              <a:solidFill>
                <a:srgbClr val="64A156"/>
              </a:solidFill>
              <a:prstDash val="solid"/>
            </a:ln>
          </p:spPr>
        </p:sp>
        <p:sp>
          <p:nvSpPr>
            <p:cNvPr id="2079" name="Text 16">
              <a:extLst>
                <a:ext uri="{FF2B5EF4-FFF2-40B4-BE49-F238E27FC236}">
                  <a16:creationId xmlns:a16="http://schemas.microsoft.com/office/drawing/2014/main" id="{765D257C-5043-4DF7-D0D2-F3EDE66F89CF}"/>
                </a:ext>
              </a:extLst>
            </p:cNvPr>
            <p:cNvSpPr/>
            <p:nvPr/>
          </p:nvSpPr>
          <p:spPr>
            <a:xfrm>
              <a:off x="11338560" y="6671433"/>
              <a:ext cx="438912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rial Nova Light" panose="020B0304020202020204" pitchFamily="34" charset="0"/>
                </a:rPr>
                <a:t>3</a:t>
              </a:r>
              <a:endParaRPr lang="en-US" sz="900" dirty="0">
                <a:latin typeface="Arial Nova Light" panose="020B0304020202020204" pitchFamily="34" charset="0"/>
              </a:endParaRPr>
            </a:p>
          </p:txBody>
        </p:sp>
        <p:pic>
          <p:nvPicPr>
            <p:cNvPr id="2080" name="Image 2" descr="preencoded.png">
              <a:extLst>
                <a:ext uri="{FF2B5EF4-FFF2-40B4-BE49-F238E27FC236}">
                  <a16:creationId xmlns:a16="http://schemas.microsoft.com/office/drawing/2014/main" id="{55785EEE-0657-6EBA-92F1-F50F2BABED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1873485" y="6349782"/>
              <a:ext cx="842854" cy="842856"/>
            </a:xfrm>
            <a:prstGeom prst="rect">
              <a:avLst/>
            </a:prstGeom>
          </p:spPr>
        </p:pic>
        <p:sp>
          <p:nvSpPr>
            <p:cNvPr id="2081" name="Text 17">
              <a:extLst>
                <a:ext uri="{FF2B5EF4-FFF2-40B4-BE49-F238E27FC236}">
                  <a16:creationId xmlns:a16="http://schemas.microsoft.com/office/drawing/2014/main" id="{90DB6071-A424-5C3D-B316-0B816E981080}"/>
                </a:ext>
              </a:extLst>
            </p:cNvPr>
            <p:cNvSpPr/>
            <p:nvPr/>
          </p:nvSpPr>
          <p:spPr>
            <a:xfrm>
              <a:off x="11324640" y="7029399"/>
              <a:ext cx="2093976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C2733"/>
                  </a:solidFill>
                  <a:latin typeface="Arial Nova Light" panose="020B0304020202020204" pitchFamily="34" charset="0"/>
                </a:rPr>
                <a:t>Evaluar desempeño</a:t>
              </a:r>
              <a:endParaRPr lang="en-US" sz="1100" dirty="0">
                <a:latin typeface="Arial Nova Light" panose="020B0304020202020204" pitchFamily="34" charset="0"/>
              </a:endParaRPr>
            </a:p>
          </p:txBody>
        </p:sp>
        <p:sp>
          <p:nvSpPr>
            <p:cNvPr id="2082" name="Text 18">
              <a:extLst>
                <a:ext uri="{FF2B5EF4-FFF2-40B4-BE49-F238E27FC236}">
                  <a16:creationId xmlns:a16="http://schemas.microsoft.com/office/drawing/2014/main" id="{DB7F00D3-C3BF-CB3C-5E3A-4046A698B7F0}"/>
                </a:ext>
              </a:extLst>
            </p:cNvPr>
            <p:cNvSpPr/>
            <p:nvPr/>
          </p:nvSpPr>
          <p:spPr>
            <a:xfrm>
              <a:off x="11344243" y="7326867"/>
              <a:ext cx="2093976" cy="256031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5C6675"/>
                  </a:solidFill>
                  <a:latin typeface="Arial Nova Light" panose="020B0304020202020204" pitchFamily="34" charset="0"/>
                </a:rPr>
                <a:t>Accuracy, Precision, Recall, F1-score y AUC.</a:t>
              </a:r>
              <a:endParaRPr lang="en-US" sz="800" dirty="0">
                <a:latin typeface="Arial Nova Light" panose="020B0304020202020204" pitchFamily="34" charset="0"/>
              </a:endParaRPr>
            </a:p>
          </p:txBody>
        </p:sp>
        <p:sp>
          <p:nvSpPr>
            <p:cNvPr id="2083" name="Shape 19">
              <a:extLst>
                <a:ext uri="{FF2B5EF4-FFF2-40B4-BE49-F238E27FC236}">
                  <a16:creationId xmlns:a16="http://schemas.microsoft.com/office/drawing/2014/main" id="{AD462E29-4850-55EE-D656-041A35DE6AB0}"/>
                </a:ext>
              </a:extLst>
            </p:cNvPr>
            <p:cNvSpPr/>
            <p:nvPr/>
          </p:nvSpPr>
          <p:spPr>
            <a:xfrm>
              <a:off x="13871448" y="6378825"/>
              <a:ext cx="2423160" cy="141732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3970">
              <a:solidFill>
                <a:srgbClr val="D7E4F2"/>
              </a:solidFill>
              <a:prstDash val="solid"/>
            </a:ln>
            <a:effectLst>
              <a:outerShdw blurRad="15240" dist="7620" dir="27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084" name="Shape 20">
              <a:extLst>
                <a:ext uri="{FF2B5EF4-FFF2-40B4-BE49-F238E27FC236}">
                  <a16:creationId xmlns:a16="http://schemas.microsoft.com/office/drawing/2014/main" id="{DE6C5D5E-1072-643A-3446-A95CD58621BC}"/>
                </a:ext>
              </a:extLst>
            </p:cNvPr>
            <p:cNvSpPr/>
            <p:nvPr/>
          </p:nvSpPr>
          <p:spPr>
            <a:xfrm>
              <a:off x="14060109" y="6512510"/>
              <a:ext cx="438911" cy="438913"/>
            </a:xfrm>
            <a:prstGeom prst="ellipse">
              <a:avLst/>
            </a:prstGeom>
            <a:solidFill>
              <a:srgbClr val="F4A71D"/>
            </a:solidFill>
            <a:ln w="12700">
              <a:solidFill>
                <a:srgbClr val="F4A71D"/>
              </a:solidFill>
              <a:prstDash val="solid"/>
            </a:ln>
          </p:spPr>
        </p:sp>
        <p:sp>
          <p:nvSpPr>
            <p:cNvPr id="2085" name="Text 21">
              <a:extLst>
                <a:ext uri="{FF2B5EF4-FFF2-40B4-BE49-F238E27FC236}">
                  <a16:creationId xmlns:a16="http://schemas.microsoft.com/office/drawing/2014/main" id="{57882BF6-9DE8-329D-857B-9691893CD87D}"/>
                </a:ext>
              </a:extLst>
            </p:cNvPr>
            <p:cNvSpPr/>
            <p:nvPr/>
          </p:nvSpPr>
          <p:spPr>
            <a:xfrm>
              <a:off x="14036040" y="6671433"/>
              <a:ext cx="438912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rial Nova Light" panose="020B0304020202020204" pitchFamily="34" charset="0"/>
                </a:rPr>
                <a:t>4</a:t>
              </a:r>
              <a:endParaRPr lang="en-US" sz="900" dirty="0">
                <a:latin typeface="Arial Nova Light" panose="020B0304020202020204" pitchFamily="34" charset="0"/>
              </a:endParaRPr>
            </a:p>
          </p:txBody>
        </p:sp>
        <p:pic>
          <p:nvPicPr>
            <p:cNvPr id="2086" name="Image 3" descr="preencoded.png">
              <a:extLst>
                <a:ext uri="{FF2B5EF4-FFF2-40B4-BE49-F238E27FC236}">
                  <a16:creationId xmlns:a16="http://schemas.microsoft.com/office/drawing/2014/main" id="{B3CEDD97-0A3A-2ED6-FD49-6AE337FB1C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4575582" y="6389042"/>
              <a:ext cx="690094" cy="690096"/>
            </a:xfrm>
            <a:prstGeom prst="rect">
              <a:avLst/>
            </a:prstGeom>
          </p:spPr>
        </p:pic>
        <p:sp>
          <p:nvSpPr>
            <p:cNvPr id="2087" name="Text 22">
              <a:extLst>
                <a:ext uri="{FF2B5EF4-FFF2-40B4-BE49-F238E27FC236}">
                  <a16:creationId xmlns:a16="http://schemas.microsoft.com/office/drawing/2014/main" id="{74808E85-6BAF-27EB-EC89-9C63951FC41C}"/>
                </a:ext>
              </a:extLst>
            </p:cNvPr>
            <p:cNvSpPr/>
            <p:nvPr/>
          </p:nvSpPr>
          <p:spPr>
            <a:xfrm>
              <a:off x="14002744" y="7079139"/>
              <a:ext cx="2093976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C2733"/>
                  </a:solidFill>
                  <a:latin typeface="Arial Nova Light" panose="020B0304020202020204" pitchFamily="34" charset="0"/>
                </a:rPr>
                <a:t>Estimar espesor</a:t>
              </a:r>
              <a:endParaRPr lang="en-US" sz="1100" dirty="0">
                <a:latin typeface="Arial Nova Light" panose="020B0304020202020204" pitchFamily="34" charset="0"/>
              </a:endParaRPr>
            </a:p>
          </p:txBody>
        </p:sp>
        <p:sp>
          <p:nvSpPr>
            <p:cNvPr id="2088" name="Text 23">
              <a:extLst>
                <a:ext uri="{FF2B5EF4-FFF2-40B4-BE49-F238E27FC236}">
                  <a16:creationId xmlns:a16="http://schemas.microsoft.com/office/drawing/2014/main" id="{8ECB8215-3AD2-BA4D-3507-464EF50F2A14}"/>
                </a:ext>
              </a:extLst>
            </p:cNvPr>
            <p:cNvSpPr/>
            <p:nvPr/>
          </p:nvSpPr>
          <p:spPr>
            <a:xfrm>
              <a:off x="14036040" y="7366377"/>
              <a:ext cx="2093976" cy="25603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5C6675"/>
                  </a:solidFill>
                  <a:latin typeface="Arial Nova Light" panose="020B0304020202020204" pitchFamily="34" charset="0"/>
                </a:rPr>
                <a:t>Procesamiento digital de imágenes para fisuras.</a:t>
              </a:r>
              <a:endParaRPr lang="en-US" sz="800" dirty="0">
                <a:latin typeface="Arial Nova Light" panose="020B0304020202020204" pitchFamily="34" charset="0"/>
              </a:endParaRPr>
            </a:p>
          </p:txBody>
        </p:sp>
        <p:sp>
          <p:nvSpPr>
            <p:cNvPr id="2089" name="Shape 24">
              <a:extLst>
                <a:ext uri="{FF2B5EF4-FFF2-40B4-BE49-F238E27FC236}">
                  <a16:creationId xmlns:a16="http://schemas.microsoft.com/office/drawing/2014/main" id="{A1D92078-F703-7FC4-7946-B3B35DA67C0B}"/>
                </a:ext>
              </a:extLst>
            </p:cNvPr>
            <p:cNvSpPr/>
            <p:nvPr/>
          </p:nvSpPr>
          <p:spPr>
            <a:xfrm>
              <a:off x="8183880" y="6927465"/>
              <a:ext cx="201168" cy="310896"/>
            </a:xfrm>
            <a:prstGeom prst="chevron">
              <a:avLst/>
            </a:prstGeom>
            <a:solidFill>
              <a:srgbClr val="9CB3CC"/>
            </a:solidFill>
            <a:ln w="12700">
              <a:solidFill>
                <a:srgbClr val="9CB3CC"/>
              </a:solidFill>
              <a:prstDash val="solid"/>
            </a:ln>
          </p:spPr>
        </p:sp>
        <p:sp>
          <p:nvSpPr>
            <p:cNvPr id="2090" name="Shape 25">
              <a:extLst>
                <a:ext uri="{FF2B5EF4-FFF2-40B4-BE49-F238E27FC236}">
                  <a16:creationId xmlns:a16="http://schemas.microsoft.com/office/drawing/2014/main" id="{84C8EA59-894C-805E-D3C0-985EE5C73E7F}"/>
                </a:ext>
              </a:extLst>
            </p:cNvPr>
            <p:cNvSpPr/>
            <p:nvPr/>
          </p:nvSpPr>
          <p:spPr>
            <a:xfrm>
              <a:off x="10881360" y="6927465"/>
              <a:ext cx="201168" cy="310896"/>
            </a:xfrm>
            <a:prstGeom prst="chevron">
              <a:avLst/>
            </a:prstGeom>
            <a:solidFill>
              <a:srgbClr val="9CB3CC"/>
            </a:solidFill>
            <a:ln w="12700">
              <a:solidFill>
                <a:srgbClr val="9CB3CC"/>
              </a:solidFill>
              <a:prstDash val="solid"/>
            </a:ln>
          </p:spPr>
        </p:sp>
        <p:sp>
          <p:nvSpPr>
            <p:cNvPr id="2091" name="Shape 26">
              <a:extLst>
                <a:ext uri="{FF2B5EF4-FFF2-40B4-BE49-F238E27FC236}">
                  <a16:creationId xmlns:a16="http://schemas.microsoft.com/office/drawing/2014/main" id="{3AD0A712-0709-917A-8D5C-31F09B02F0DA}"/>
                </a:ext>
              </a:extLst>
            </p:cNvPr>
            <p:cNvSpPr/>
            <p:nvPr/>
          </p:nvSpPr>
          <p:spPr>
            <a:xfrm>
              <a:off x="13578840" y="6927465"/>
              <a:ext cx="201168" cy="310896"/>
            </a:xfrm>
            <a:prstGeom prst="chevron">
              <a:avLst/>
            </a:prstGeom>
            <a:solidFill>
              <a:srgbClr val="9CB3CC"/>
            </a:solidFill>
            <a:ln w="12700">
              <a:solidFill>
                <a:srgbClr val="9CB3CC"/>
              </a:solidFill>
              <a:prstDash val="solid"/>
            </a:ln>
          </p:spPr>
        </p:sp>
      </p:grpSp>
      <p:pic>
        <p:nvPicPr>
          <p:cNvPr id="3" name="Picture 2" descr="Iconos gratuitos de Idea diseñados por Freepik">
            <a:extLst>
              <a:ext uri="{FF2B5EF4-FFF2-40B4-BE49-F238E27FC236}">
                <a16:creationId xmlns:a16="http://schemas.microsoft.com/office/drawing/2014/main" id="{DA060262-84ED-F84B-A48C-340560B05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ackgroundRemoval t="4297" b="94727" l="8594" r="94336">
                        <a14:foregroundMark x1="49414" y1="49219" x2="42188" y2="47461"/>
                        <a14:foregroundMark x1="41602" y1="41211" x2="42188" y2="50977"/>
                        <a14:foregroundMark x1="42188" y1="50977" x2="45313" y2="58398"/>
                        <a14:foregroundMark x1="15430" y1="27734" x2="17773" y2="29492"/>
                        <a14:foregroundMark x1="8594" y1="47070" x2="12500" y2="47070"/>
                        <a14:foregroundMark x1="17188" y1="66992" x2="18945" y2="65625"/>
                        <a14:foregroundMark x1="30273" y1="81445" x2="31836" y2="78906"/>
                        <a14:foregroundMark x1="48242" y1="94727" x2="52148" y2="91992"/>
                        <a14:foregroundMark x1="67773" y1="78320" x2="68359" y2="80859"/>
                        <a14:foregroundMark x1="80859" y1="65234" x2="83008" y2="66797"/>
                        <a14:foregroundMark x1="88281" y1="47656" x2="94336" y2="47070"/>
                        <a14:foregroundMark x1="81250" y1="29297" x2="84180" y2="28320"/>
                        <a14:foregroundMark x1="67188" y1="15234" x2="68945" y2="12695"/>
                        <a14:foregroundMark x1="49609" y1="4297" x2="50000" y2="7813"/>
                        <a14:foregroundMark x1="30664" y1="13281" x2="31836" y2="15625"/>
                        <a14:foregroundMark x1="58984" y1="49609" x2="57031" y2="587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3776" y="1376237"/>
            <a:ext cx="1128538" cy="1128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6703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A2853C-DF22-218E-BD13-F65FC198742A}"/>
              </a:ext>
            </a:extLst>
          </p:cNvPr>
          <p:cNvSpPr/>
          <p:nvPr/>
        </p:nvSpPr>
        <p:spPr>
          <a:xfrm>
            <a:off x="-221" y="0"/>
            <a:ext cx="12192219" cy="461665"/>
          </a:xfrm>
          <a:prstGeom prst="rect">
            <a:avLst/>
          </a:prstGeom>
          <a:solidFill>
            <a:srgbClr val="061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83FCA67-23B0-1ABF-1E72-7B9AE4BA7424}"/>
              </a:ext>
            </a:extLst>
          </p:cNvPr>
          <p:cNvSpPr txBox="1"/>
          <p:nvPr/>
        </p:nvSpPr>
        <p:spPr>
          <a:xfrm>
            <a:off x="91447" y="-33851"/>
            <a:ext cx="269336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es-MX" sz="2400" dirty="0">
                <a:solidFill>
                  <a:srgbClr val="FFFFFF"/>
                </a:solidFill>
                <a:latin typeface="Roboto Black" panose="020B0604020202020204" pitchFamily="2" charset="0"/>
                <a:ea typeface="Roboto Black" panose="020B0604020202020204" pitchFamily="2" charset="0"/>
              </a:rPr>
              <a:t>II. METODOLOGÍA</a:t>
            </a:r>
            <a:endParaRPr sz="2400" dirty="0"/>
          </a:p>
        </p:txBody>
      </p:sp>
      <p:pic>
        <p:nvPicPr>
          <p:cNvPr id="4" name="Picture 2" descr="EPG de la UPC: &quot;Hoy necesitamos especialistas en la gestión de riesgos y la  protección de los datos&quot; | Semana Económica">
            <a:extLst>
              <a:ext uri="{FF2B5EF4-FFF2-40B4-BE49-F238E27FC236}">
                <a16:creationId xmlns:a16="http://schemas.microsoft.com/office/drawing/2014/main" id="{03E632BC-9EB8-5D3E-6531-2397C81A59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5301" y="-33851"/>
            <a:ext cx="1069957" cy="721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F793C1E-A31E-154B-05A2-A8D65BCDE97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676"/>
          <a:stretch/>
        </p:blipFill>
        <p:spPr>
          <a:xfrm>
            <a:off x="793233" y="461665"/>
            <a:ext cx="10296006" cy="6268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150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B3E812-928E-B651-4A53-FA9948E1E4A9}"/>
              </a:ext>
            </a:extLst>
          </p:cNvPr>
          <p:cNvSpPr/>
          <p:nvPr/>
        </p:nvSpPr>
        <p:spPr>
          <a:xfrm>
            <a:off x="-221" y="0"/>
            <a:ext cx="12192219" cy="687778"/>
          </a:xfrm>
          <a:prstGeom prst="rect">
            <a:avLst/>
          </a:prstGeom>
          <a:solidFill>
            <a:srgbClr val="061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9C230A5-C543-9B31-AF0B-47CA0AEC6052}"/>
              </a:ext>
            </a:extLst>
          </p:cNvPr>
          <p:cNvSpPr txBox="1"/>
          <p:nvPr/>
        </p:nvSpPr>
        <p:spPr>
          <a:xfrm>
            <a:off x="91447" y="127852"/>
            <a:ext cx="269336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es-MX" sz="2400" dirty="0">
                <a:solidFill>
                  <a:srgbClr val="FFFFFF"/>
                </a:solidFill>
                <a:latin typeface="Roboto Black" panose="020B0604020202020204" pitchFamily="2" charset="0"/>
                <a:ea typeface="Roboto Black" panose="020B0604020202020204" pitchFamily="2" charset="0"/>
              </a:rPr>
              <a:t>II. METODOLOGÍA</a:t>
            </a:r>
            <a:endParaRPr sz="2400" dirty="0"/>
          </a:p>
        </p:txBody>
      </p:sp>
      <p:pic>
        <p:nvPicPr>
          <p:cNvPr id="4" name="Picture 2" descr="EPG de la UPC: &quot;Hoy necesitamos especialistas en la gestión de riesgos y la  protección de los datos&quot; | Semana Económica">
            <a:extLst>
              <a:ext uri="{FF2B5EF4-FFF2-40B4-BE49-F238E27FC236}">
                <a16:creationId xmlns:a16="http://schemas.microsoft.com/office/drawing/2014/main" id="{07C7EA78-B9B4-E999-DBC4-8F50E13F3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9092" y="8609"/>
            <a:ext cx="1038109" cy="700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5368308-0C61-6FFE-0E36-061964AB4BB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BFBFC"/>
              </a:clrFrom>
              <a:clrTo>
                <a:srgbClr val="FBFBF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64523" y="720887"/>
            <a:ext cx="8862954" cy="590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581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F83CB70-F056-DAC5-3B18-31E41347CAC7}"/>
              </a:ext>
            </a:extLst>
          </p:cNvPr>
          <p:cNvSpPr/>
          <p:nvPr/>
        </p:nvSpPr>
        <p:spPr>
          <a:xfrm>
            <a:off x="-221" y="0"/>
            <a:ext cx="12192219" cy="687778"/>
          </a:xfrm>
          <a:prstGeom prst="rect">
            <a:avLst/>
          </a:prstGeom>
          <a:solidFill>
            <a:srgbClr val="061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FE9750-B6E3-BC55-DBF6-409E1C48AD77}"/>
              </a:ext>
            </a:extLst>
          </p:cNvPr>
          <p:cNvSpPr txBox="1"/>
          <p:nvPr/>
        </p:nvSpPr>
        <p:spPr>
          <a:xfrm>
            <a:off x="91447" y="127852"/>
            <a:ext cx="269336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es-MX" sz="2400" dirty="0">
                <a:solidFill>
                  <a:srgbClr val="FFFFFF"/>
                </a:solidFill>
                <a:latin typeface="Roboto Black" panose="020B0604020202020204" pitchFamily="2" charset="0"/>
                <a:ea typeface="Roboto Black" panose="020B0604020202020204" pitchFamily="2" charset="0"/>
              </a:rPr>
              <a:t>II. METODOLOGÍA</a:t>
            </a:r>
            <a:endParaRPr sz="2400" dirty="0"/>
          </a:p>
        </p:txBody>
      </p:sp>
      <p:pic>
        <p:nvPicPr>
          <p:cNvPr id="5" name="Picture 2" descr="EPG de la UPC: &quot;Hoy necesitamos especialistas en la gestión de riesgos y la  protección de los datos&quot; | Semana Económica">
            <a:extLst>
              <a:ext uri="{FF2B5EF4-FFF2-40B4-BE49-F238E27FC236}">
                <a16:creationId xmlns:a16="http://schemas.microsoft.com/office/drawing/2014/main" id="{6D3044A6-FB96-419C-434A-F65C902FE9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9092" y="8609"/>
            <a:ext cx="1038109" cy="700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hape 4">
            <a:extLst>
              <a:ext uri="{FF2B5EF4-FFF2-40B4-BE49-F238E27FC236}">
                <a16:creationId xmlns:a16="http://schemas.microsoft.com/office/drawing/2014/main" id="{5A645AEF-B884-FCB5-82D4-775076088E73}"/>
              </a:ext>
            </a:extLst>
          </p:cNvPr>
          <p:cNvSpPr/>
          <p:nvPr/>
        </p:nvSpPr>
        <p:spPr>
          <a:xfrm>
            <a:off x="304799" y="729406"/>
            <a:ext cx="6033007" cy="397720"/>
          </a:xfrm>
          <a:prstGeom prst="roundRect">
            <a:avLst>
              <a:gd name="adj" fmla="val 12500"/>
            </a:avLst>
          </a:prstGeom>
          <a:solidFill>
            <a:srgbClr val="073B86"/>
          </a:solidFill>
          <a:ln w="12700">
            <a:solidFill>
              <a:srgbClr val="073B86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lang="en-US" b="1" dirty="0" err="1">
                <a:solidFill>
                  <a:srgbClr val="FFFFFF"/>
                </a:solidFill>
                <a:latin typeface="Arial Nova Light" panose="020B0304020202020204" pitchFamily="34" charset="0"/>
                <a:ea typeface="Aptos Display" pitchFamily="34" charset="-122"/>
                <a:cs typeface="Aptos Display" pitchFamily="34" charset="-120"/>
              </a:rPr>
              <a:t>Arquitectura</a:t>
            </a:r>
            <a:r>
              <a:rPr lang="en-US" b="1" dirty="0">
                <a:solidFill>
                  <a:srgbClr val="FFFFFF"/>
                </a:solidFill>
                <a:latin typeface="Arial Nova Light" panose="020B0304020202020204" pitchFamily="34" charset="0"/>
                <a:ea typeface="Aptos Display" pitchFamily="34" charset="-122"/>
                <a:cs typeface="Aptos Display" pitchFamily="34" charset="-120"/>
              </a:rPr>
              <a:t> de la Red Neuronal </a:t>
            </a:r>
            <a:r>
              <a:rPr lang="en-US" b="1" dirty="0" err="1">
                <a:solidFill>
                  <a:srgbClr val="FFFFFF"/>
                </a:solidFill>
                <a:latin typeface="Arial Nova Light" panose="020B0304020202020204" pitchFamily="34" charset="0"/>
                <a:ea typeface="Aptos Display" pitchFamily="34" charset="-122"/>
                <a:cs typeface="Aptos Display" pitchFamily="34" charset="-120"/>
              </a:rPr>
              <a:t>Convolucional</a:t>
            </a:r>
            <a:r>
              <a:rPr lang="en-US" b="1" dirty="0">
                <a:solidFill>
                  <a:srgbClr val="FFFFFF"/>
                </a:solidFill>
                <a:latin typeface="Arial Nova Light" panose="020B0304020202020204" pitchFamily="34" charset="0"/>
                <a:ea typeface="Aptos Display" pitchFamily="34" charset="-122"/>
                <a:cs typeface="Aptos Display" pitchFamily="34" charset="-120"/>
              </a:rPr>
              <a:t> (CNN)</a:t>
            </a:r>
            <a:endParaRPr lang="en-US" dirty="0">
              <a:latin typeface="Arial Nova Light" panose="020B0304020202020204" pitchFamily="34" charset="0"/>
            </a:endParaRPr>
          </a:p>
          <a:p>
            <a:endParaRPr lang="es-PE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6A7E508-AABE-206D-6396-4BBE7D29A0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t="7677" r="1" b="9588"/>
          <a:stretch/>
        </p:blipFill>
        <p:spPr>
          <a:xfrm>
            <a:off x="1081146" y="1302994"/>
            <a:ext cx="10287000" cy="567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397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99A384-2590-DCD9-3A72-C91A948F57EF}"/>
              </a:ext>
            </a:extLst>
          </p:cNvPr>
          <p:cNvSpPr/>
          <p:nvPr/>
        </p:nvSpPr>
        <p:spPr>
          <a:xfrm>
            <a:off x="-221" y="-318062"/>
            <a:ext cx="12192219" cy="1005840"/>
          </a:xfrm>
          <a:prstGeom prst="rect">
            <a:avLst/>
          </a:prstGeom>
          <a:solidFill>
            <a:srgbClr val="061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8697274-9406-1811-83CC-652269239794}"/>
              </a:ext>
            </a:extLst>
          </p:cNvPr>
          <p:cNvSpPr txBox="1"/>
          <p:nvPr/>
        </p:nvSpPr>
        <p:spPr>
          <a:xfrm>
            <a:off x="91447" y="127852"/>
            <a:ext cx="257795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es-MX" sz="2400" dirty="0">
                <a:solidFill>
                  <a:srgbClr val="FFFFFF"/>
                </a:solidFill>
                <a:latin typeface="Roboto Black" panose="020B0604020202020204" pitchFamily="2" charset="0"/>
                <a:ea typeface="Roboto Black" panose="020B0604020202020204" pitchFamily="2" charset="0"/>
              </a:rPr>
              <a:t>III. RESULTADOS</a:t>
            </a:r>
            <a:endParaRPr sz="2400" dirty="0"/>
          </a:p>
        </p:txBody>
      </p:sp>
      <p:pic>
        <p:nvPicPr>
          <p:cNvPr id="4" name="Picture 2" descr="EPG de la UPC: &quot;Hoy necesitamos especialistas en la gestión de riesgos y la  protección de los datos&quot; | Semana Económica">
            <a:extLst>
              <a:ext uri="{FF2B5EF4-FFF2-40B4-BE49-F238E27FC236}">
                <a16:creationId xmlns:a16="http://schemas.microsoft.com/office/drawing/2014/main" id="{9C49707F-C3AE-63FD-324D-244DA8931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1377" y="-198365"/>
            <a:ext cx="1313881" cy="886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Shape 1">
            <a:extLst>
              <a:ext uri="{FF2B5EF4-FFF2-40B4-BE49-F238E27FC236}">
                <a16:creationId xmlns:a16="http://schemas.microsoft.com/office/drawing/2014/main" id="{0E89BAA4-D0DD-73E3-0DBA-E149D3F661D3}"/>
              </a:ext>
            </a:extLst>
          </p:cNvPr>
          <p:cNvSpPr/>
          <p:nvPr/>
        </p:nvSpPr>
        <p:spPr>
          <a:xfrm>
            <a:off x="305" y="7158569"/>
            <a:ext cx="12191695" cy="219456"/>
          </a:xfrm>
          <a:prstGeom prst="rect">
            <a:avLst/>
          </a:prstGeom>
          <a:solidFill>
            <a:srgbClr val="E6F4FA"/>
          </a:solidFill>
          <a:ln w="12700">
            <a:solidFill>
              <a:srgbClr val="E6F4FA"/>
            </a:solidFill>
            <a:prstDash val="solid"/>
          </a:ln>
        </p:spPr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A2ADCD59-4B73-343C-D978-784DABC24530}"/>
              </a:ext>
            </a:extLst>
          </p:cNvPr>
          <p:cNvSpPr/>
          <p:nvPr/>
        </p:nvSpPr>
        <p:spPr>
          <a:xfrm>
            <a:off x="411785" y="830921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u="sng" dirty="0">
                <a:solidFill>
                  <a:srgbClr val="052B63"/>
                </a:solidFill>
                <a:latin typeface="Arial Nova Light" panose="020B0304020202020204" pitchFamily="34" charset="0"/>
                <a:ea typeface="Aptos Display" pitchFamily="34" charset="-122"/>
                <a:cs typeface="Aptos Display" pitchFamily="34" charset="-120"/>
              </a:rPr>
              <a:t>Desempeño global del modelo CNN</a:t>
            </a:r>
            <a:endParaRPr lang="en-US" sz="2400" u="sng" dirty="0">
              <a:latin typeface="Arial Nova Light" panose="020B0304020202020204" pitchFamily="34" charset="0"/>
            </a:endParaRPr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0B542ECF-AF0C-7305-1E4C-71B8E5EE6407}"/>
              </a:ext>
            </a:extLst>
          </p:cNvPr>
          <p:cNvSpPr/>
          <p:nvPr/>
        </p:nvSpPr>
        <p:spPr>
          <a:xfrm>
            <a:off x="496641" y="1412637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s-PE" sz="1600" dirty="0">
                <a:solidFill>
                  <a:srgbClr val="5C6675"/>
                </a:solidFill>
                <a:latin typeface="Arial Nova Light" panose="020B0304020202020204" pitchFamily="34" charset="0"/>
              </a:rPr>
              <a:t>Detección y medición de fisuras mediante redes convolucionales</a:t>
            </a:r>
            <a:endParaRPr lang="es-PE" sz="1600" dirty="0">
              <a:latin typeface="Arial Nova Light" panose="020B0304020202020204" pitchFamily="34" charset="0"/>
            </a:endParaRPr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48665380-CF81-698C-D7D1-917E9C18AA71}"/>
              </a:ext>
            </a:extLst>
          </p:cNvPr>
          <p:cNvSpPr/>
          <p:nvPr/>
        </p:nvSpPr>
        <p:spPr>
          <a:xfrm>
            <a:off x="8979713" y="1041233"/>
            <a:ext cx="2578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Nova Light" panose="020B0304020202020204" pitchFamily="34" charset="0"/>
              </a:rPr>
              <a:t>SDNET2018 / Pavement · 8,414 imágenes</a:t>
            </a:r>
            <a:endParaRPr lang="en-US" sz="900" dirty="0">
              <a:latin typeface="Arial Nova Light" panose="020B0304020202020204" pitchFamily="34" charset="0"/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4FA244F7-96B3-BF04-9433-A1920112D808}"/>
              </a:ext>
            </a:extLst>
          </p:cNvPr>
          <p:cNvGrpSpPr/>
          <p:nvPr/>
        </p:nvGrpSpPr>
        <p:grpSpPr>
          <a:xfrm>
            <a:off x="402840" y="1845905"/>
            <a:ext cx="2148840" cy="1051560"/>
            <a:chOff x="503225" y="1845905"/>
            <a:chExt cx="2148840" cy="1051560"/>
          </a:xfrm>
        </p:grpSpPr>
        <p:sp>
          <p:nvSpPr>
            <p:cNvPr id="36" name="Shape 6">
              <a:extLst>
                <a:ext uri="{FF2B5EF4-FFF2-40B4-BE49-F238E27FC236}">
                  <a16:creationId xmlns:a16="http://schemas.microsoft.com/office/drawing/2014/main" id="{47E83BB3-D6BE-4BF1-F55D-68110662D88A}"/>
                </a:ext>
              </a:extLst>
            </p:cNvPr>
            <p:cNvSpPr/>
            <p:nvPr/>
          </p:nvSpPr>
          <p:spPr>
            <a:xfrm>
              <a:off x="503225" y="1845905"/>
              <a:ext cx="2148840" cy="105156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12700">
              <a:solidFill>
                <a:srgbClr val="B8C7D9"/>
              </a:solidFill>
              <a:prstDash val="solid"/>
            </a:ln>
            <a:effectLst>
              <a:outerShdw blurRad="15240" dist="7620" dir="27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37" name="Shape 7">
              <a:extLst>
                <a:ext uri="{FF2B5EF4-FFF2-40B4-BE49-F238E27FC236}">
                  <a16:creationId xmlns:a16="http://schemas.microsoft.com/office/drawing/2014/main" id="{BF1AE58F-AD60-74CB-2C63-C93B56735AA8}"/>
                </a:ext>
              </a:extLst>
            </p:cNvPr>
            <p:cNvSpPr/>
            <p:nvPr/>
          </p:nvSpPr>
          <p:spPr>
            <a:xfrm>
              <a:off x="640385" y="1983065"/>
              <a:ext cx="566928" cy="566928"/>
            </a:xfrm>
            <a:prstGeom prst="roundRect">
              <a:avLst>
                <a:gd name="adj" fmla="val 12903"/>
              </a:avLst>
            </a:prstGeom>
            <a:solidFill>
              <a:srgbClr val="1D5AA6"/>
            </a:solidFill>
            <a:ln w="12700">
              <a:solidFill>
                <a:srgbClr val="1D5AA6"/>
              </a:solidFill>
              <a:prstDash val="solid"/>
            </a:ln>
          </p:spPr>
        </p:sp>
        <p:sp>
          <p:nvSpPr>
            <p:cNvPr id="38" name="Text 8">
              <a:extLst>
                <a:ext uri="{FF2B5EF4-FFF2-40B4-BE49-F238E27FC236}">
                  <a16:creationId xmlns:a16="http://schemas.microsoft.com/office/drawing/2014/main" id="{3E2D5CA1-C5F6-2D85-F57F-04F46FD22BBA}"/>
                </a:ext>
              </a:extLst>
            </p:cNvPr>
            <p:cNvSpPr/>
            <p:nvPr/>
          </p:nvSpPr>
          <p:spPr>
            <a:xfrm>
              <a:off x="1307897" y="2001353"/>
              <a:ext cx="123444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1D5AA6"/>
                  </a:solidFill>
                  <a:latin typeface="Arial Nova Light" panose="020B0304020202020204" pitchFamily="34" charset="0"/>
                </a:rPr>
                <a:t>84.83%</a:t>
              </a:r>
              <a:endParaRPr lang="en-US" sz="2400" dirty="0">
                <a:latin typeface="Arial Nova Light" panose="020B0304020202020204" pitchFamily="34" charset="0"/>
              </a:endParaRPr>
            </a:p>
          </p:txBody>
        </p:sp>
        <p:sp>
          <p:nvSpPr>
            <p:cNvPr id="39" name="Text 9">
              <a:extLst>
                <a:ext uri="{FF2B5EF4-FFF2-40B4-BE49-F238E27FC236}">
                  <a16:creationId xmlns:a16="http://schemas.microsoft.com/office/drawing/2014/main" id="{53BC24E9-3A5C-D499-813B-0A9823B53E7E}"/>
                </a:ext>
              </a:extLst>
            </p:cNvPr>
            <p:cNvSpPr/>
            <p:nvPr/>
          </p:nvSpPr>
          <p:spPr>
            <a:xfrm>
              <a:off x="1307897" y="2284817"/>
              <a:ext cx="123444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C2733"/>
                  </a:solidFill>
                  <a:latin typeface="Arial Nova Light" panose="020B0304020202020204" pitchFamily="34" charset="0"/>
                </a:rPr>
                <a:t>Accuracy global</a:t>
              </a:r>
              <a:endParaRPr lang="en-US" sz="1200" dirty="0">
                <a:latin typeface="Arial Nova Light" panose="020B0304020202020204" pitchFamily="34" charset="0"/>
              </a:endParaRPr>
            </a:p>
          </p:txBody>
        </p:sp>
        <p:sp>
          <p:nvSpPr>
            <p:cNvPr id="40" name="Text 10">
              <a:extLst>
                <a:ext uri="{FF2B5EF4-FFF2-40B4-BE49-F238E27FC236}">
                  <a16:creationId xmlns:a16="http://schemas.microsoft.com/office/drawing/2014/main" id="{59BB83EE-553A-5447-A2A5-B02E3EECE984}"/>
                </a:ext>
              </a:extLst>
            </p:cNvPr>
            <p:cNvSpPr/>
            <p:nvPr/>
          </p:nvSpPr>
          <p:spPr>
            <a:xfrm>
              <a:off x="667817" y="2632289"/>
              <a:ext cx="1819656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C6675"/>
                  </a:solidFill>
                  <a:latin typeface="Arial Nova Light" panose="020B0304020202020204" pitchFamily="34" charset="0"/>
                </a:rPr>
                <a:t>Proporción total de aciertos</a:t>
              </a:r>
              <a:endParaRPr lang="en-US" sz="1050" dirty="0">
                <a:latin typeface="Arial Nova Light" panose="020B0304020202020204" pitchFamily="34" charset="0"/>
              </a:endParaRPr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457F8235-EB20-003F-412D-F58AAD79FFCF}"/>
              </a:ext>
            </a:extLst>
          </p:cNvPr>
          <p:cNvGrpSpPr/>
          <p:nvPr/>
        </p:nvGrpSpPr>
        <p:grpSpPr>
          <a:xfrm>
            <a:off x="2755209" y="1870942"/>
            <a:ext cx="2148840" cy="1051560"/>
            <a:chOff x="2880665" y="1845905"/>
            <a:chExt cx="2148840" cy="1051560"/>
          </a:xfrm>
        </p:grpSpPr>
        <p:sp>
          <p:nvSpPr>
            <p:cNvPr id="41" name="Shape 11">
              <a:extLst>
                <a:ext uri="{FF2B5EF4-FFF2-40B4-BE49-F238E27FC236}">
                  <a16:creationId xmlns:a16="http://schemas.microsoft.com/office/drawing/2014/main" id="{2A168A5D-1323-AD9A-FB96-F66252C81663}"/>
                </a:ext>
              </a:extLst>
            </p:cNvPr>
            <p:cNvSpPr/>
            <p:nvPr/>
          </p:nvSpPr>
          <p:spPr>
            <a:xfrm>
              <a:off x="2880665" y="1845905"/>
              <a:ext cx="2148840" cy="105156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12700">
              <a:solidFill>
                <a:srgbClr val="B8C7D9"/>
              </a:solidFill>
              <a:prstDash val="solid"/>
            </a:ln>
            <a:effectLst>
              <a:outerShdw blurRad="15240" dist="7620" dir="27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42" name="Shape 12">
              <a:extLst>
                <a:ext uri="{FF2B5EF4-FFF2-40B4-BE49-F238E27FC236}">
                  <a16:creationId xmlns:a16="http://schemas.microsoft.com/office/drawing/2014/main" id="{782BF421-E3D3-4270-C0E3-5C10541EEA2E}"/>
                </a:ext>
              </a:extLst>
            </p:cNvPr>
            <p:cNvSpPr/>
            <p:nvPr/>
          </p:nvSpPr>
          <p:spPr>
            <a:xfrm>
              <a:off x="3017825" y="1983065"/>
              <a:ext cx="566928" cy="566928"/>
            </a:xfrm>
            <a:prstGeom prst="roundRect">
              <a:avLst>
                <a:gd name="adj" fmla="val 12903"/>
              </a:avLst>
            </a:prstGeom>
            <a:solidFill>
              <a:srgbClr val="64A156"/>
            </a:solidFill>
            <a:ln w="12700">
              <a:solidFill>
                <a:srgbClr val="64A156"/>
              </a:solidFill>
              <a:prstDash val="solid"/>
            </a:ln>
          </p:spPr>
        </p:sp>
        <p:sp>
          <p:nvSpPr>
            <p:cNvPr id="43" name="Text 13">
              <a:extLst>
                <a:ext uri="{FF2B5EF4-FFF2-40B4-BE49-F238E27FC236}">
                  <a16:creationId xmlns:a16="http://schemas.microsoft.com/office/drawing/2014/main" id="{32E09394-DF06-3F26-E30D-15356C245519}"/>
                </a:ext>
              </a:extLst>
            </p:cNvPr>
            <p:cNvSpPr/>
            <p:nvPr/>
          </p:nvSpPr>
          <p:spPr>
            <a:xfrm>
              <a:off x="3685337" y="2001353"/>
              <a:ext cx="123444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64A156"/>
                  </a:solidFill>
                  <a:latin typeface="Arial Nova Light" panose="020B0304020202020204" pitchFamily="34" charset="0"/>
                </a:rPr>
                <a:t>89.85%</a:t>
              </a:r>
              <a:endParaRPr lang="en-US" sz="2400" dirty="0">
                <a:latin typeface="Arial Nova Light" panose="020B0304020202020204" pitchFamily="34" charset="0"/>
              </a:endParaRPr>
            </a:p>
          </p:txBody>
        </p:sp>
        <p:sp>
          <p:nvSpPr>
            <p:cNvPr id="44" name="Text 14">
              <a:extLst>
                <a:ext uri="{FF2B5EF4-FFF2-40B4-BE49-F238E27FC236}">
                  <a16:creationId xmlns:a16="http://schemas.microsoft.com/office/drawing/2014/main" id="{C3F2E8B2-7769-E96C-24C6-5E7E2E3CDFBC}"/>
                </a:ext>
              </a:extLst>
            </p:cNvPr>
            <p:cNvSpPr/>
            <p:nvPr/>
          </p:nvSpPr>
          <p:spPr>
            <a:xfrm>
              <a:off x="3685337" y="2284817"/>
              <a:ext cx="123444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C2733"/>
                  </a:solidFill>
                  <a:latin typeface="Arial Nova Light" panose="020B0304020202020204" pitchFamily="34" charset="0"/>
                </a:rPr>
                <a:t>AUC</a:t>
              </a:r>
              <a:endParaRPr lang="en-US" sz="1200" dirty="0">
                <a:latin typeface="Arial Nova Light" panose="020B0304020202020204" pitchFamily="34" charset="0"/>
              </a:endParaRPr>
            </a:p>
          </p:txBody>
        </p:sp>
        <p:sp>
          <p:nvSpPr>
            <p:cNvPr id="45" name="Text 15">
              <a:extLst>
                <a:ext uri="{FF2B5EF4-FFF2-40B4-BE49-F238E27FC236}">
                  <a16:creationId xmlns:a16="http://schemas.microsoft.com/office/drawing/2014/main" id="{50AE96FF-E4EA-BBBE-68D6-ADB0634E2B25}"/>
                </a:ext>
              </a:extLst>
            </p:cNvPr>
            <p:cNvSpPr/>
            <p:nvPr/>
          </p:nvSpPr>
          <p:spPr>
            <a:xfrm>
              <a:off x="3045257" y="2632289"/>
              <a:ext cx="1819656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C6675"/>
                  </a:solidFill>
                  <a:latin typeface="Arial Nova Light" panose="020B0304020202020204" pitchFamily="34" charset="0"/>
                </a:rPr>
                <a:t>Capacidad de separación entre clases</a:t>
              </a:r>
              <a:endParaRPr lang="en-US" sz="1000" dirty="0">
                <a:latin typeface="Arial Nova Light" panose="020B0304020202020204" pitchFamily="34" charset="0"/>
              </a:endParaRPr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6717B0D1-6832-8534-F087-1AA4B70FDBCA}"/>
              </a:ext>
            </a:extLst>
          </p:cNvPr>
          <p:cNvGrpSpPr/>
          <p:nvPr/>
        </p:nvGrpSpPr>
        <p:grpSpPr>
          <a:xfrm>
            <a:off x="5004633" y="1859621"/>
            <a:ext cx="2448032" cy="1101852"/>
            <a:chOff x="5258105" y="1845905"/>
            <a:chExt cx="2148840" cy="1051560"/>
          </a:xfrm>
        </p:grpSpPr>
        <p:sp>
          <p:nvSpPr>
            <p:cNvPr id="46" name="Shape 16">
              <a:extLst>
                <a:ext uri="{FF2B5EF4-FFF2-40B4-BE49-F238E27FC236}">
                  <a16:creationId xmlns:a16="http://schemas.microsoft.com/office/drawing/2014/main" id="{2335C222-580A-F100-CB59-6B01122AFE2C}"/>
                </a:ext>
              </a:extLst>
            </p:cNvPr>
            <p:cNvSpPr/>
            <p:nvPr/>
          </p:nvSpPr>
          <p:spPr>
            <a:xfrm>
              <a:off x="5258105" y="1845905"/>
              <a:ext cx="2148840" cy="105156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12700">
              <a:solidFill>
                <a:srgbClr val="B8C7D9"/>
              </a:solidFill>
              <a:prstDash val="solid"/>
            </a:ln>
            <a:effectLst>
              <a:outerShdw blurRad="15240" dist="7620" dir="27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47" name="Shape 17">
              <a:extLst>
                <a:ext uri="{FF2B5EF4-FFF2-40B4-BE49-F238E27FC236}">
                  <a16:creationId xmlns:a16="http://schemas.microsoft.com/office/drawing/2014/main" id="{9C15BC3C-EF36-D75B-F81A-D03813CA4DAF}"/>
                </a:ext>
              </a:extLst>
            </p:cNvPr>
            <p:cNvSpPr/>
            <p:nvPr/>
          </p:nvSpPr>
          <p:spPr>
            <a:xfrm>
              <a:off x="5395265" y="1983065"/>
              <a:ext cx="566928" cy="566928"/>
            </a:xfrm>
            <a:prstGeom prst="roundRect">
              <a:avLst>
                <a:gd name="adj" fmla="val 12903"/>
              </a:avLst>
            </a:prstGeom>
            <a:solidFill>
              <a:srgbClr val="F4A71D"/>
            </a:solidFill>
            <a:ln w="12700">
              <a:solidFill>
                <a:srgbClr val="F4A71D"/>
              </a:solidFill>
              <a:prstDash val="solid"/>
            </a:ln>
          </p:spPr>
        </p:sp>
        <p:sp>
          <p:nvSpPr>
            <p:cNvPr id="48" name="Text 18">
              <a:extLst>
                <a:ext uri="{FF2B5EF4-FFF2-40B4-BE49-F238E27FC236}">
                  <a16:creationId xmlns:a16="http://schemas.microsoft.com/office/drawing/2014/main" id="{8837E5AB-D651-3610-8015-A9FD164906FA}"/>
                </a:ext>
              </a:extLst>
            </p:cNvPr>
            <p:cNvSpPr/>
            <p:nvPr/>
          </p:nvSpPr>
          <p:spPr>
            <a:xfrm>
              <a:off x="6062777" y="2001353"/>
              <a:ext cx="123444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F4A71D"/>
                  </a:solidFill>
                  <a:latin typeface="Arial Nova Light" panose="020B0304020202020204" pitchFamily="34" charset="0"/>
                </a:rPr>
                <a:t>76.42%</a:t>
              </a:r>
              <a:endParaRPr lang="en-US" sz="2400" dirty="0">
                <a:latin typeface="Arial Nova Light" panose="020B0304020202020204" pitchFamily="34" charset="0"/>
              </a:endParaRPr>
            </a:p>
          </p:txBody>
        </p:sp>
        <p:sp>
          <p:nvSpPr>
            <p:cNvPr id="49" name="Text 19">
              <a:extLst>
                <a:ext uri="{FF2B5EF4-FFF2-40B4-BE49-F238E27FC236}">
                  <a16:creationId xmlns:a16="http://schemas.microsoft.com/office/drawing/2014/main" id="{31B3B140-BF71-8183-713F-A476E32DD229}"/>
                </a:ext>
              </a:extLst>
            </p:cNvPr>
            <p:cNvSpPr/>
            <p:nvPr/>
          </p:nvSpPr>
          <p:spPr>
            <a:xfrm>
              <a:off x="6062777" y="2284817"/>
              <a:ext cx="123444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C2733"/>
                  </a:solidFill>
                  <a:latin typeface="Arial Nova Light" panose="020B0304020202020204" pitchFamily="34" charset="0"/>
                </a:rPr>
                <a:t>Recall fisuras</a:t>
              </a:r>
              <a:endParaRPr lang="en-US" sz="1200" dirty="0">
                <a:latin typeface="Arial Nova Light" panose="020B0304020202020204" pitchFamily="34" charset="0"/>
              </a:endParaRPr>
            </a:p>
          </p:txBody>
        </p:sp>
        <p:sp>
          <p:nvSpPr>
            <p:cNvPr id="50" name="Text 20">
              <a:extLst>
                <a:ext uri="{FF2B5EF4-FFF2-40B4-BE49-F238E27FC236}">
                  <a16:creationId xmlns:a16="http://schemas.microsoft.com/office/drawing/2014/main" id="{72D45865-EE17-5ED9-0CB8-4DF3F5E82BB7}"/>
                </a:ext>
              </a:extLst>
            </p:cNvPr>
            <p:cNvSpPr/>
            <p:nvPr/>
          </p:nvSpPr>
          <p:spPr>
            <a:xfrm>
              <a:off x="5422697" y="2632289"/>
              <a:ext cx="1819656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C6675"/>
                  </a:solidFill>
                  <a:latin typeface="Arial Nova Light" panose="020B0304020202020204" pitchFamily="34" charset="0"/>
                </a:rPr>
                <a:t>Recupera fisuras reales</a:t>
              </a:r>
              <a:endParaRPr lang="en-US" sz="1050" dirty="0">
                <a:latin typeface="Arial Nova Light" panose="020B0304020202020204" pitchFamily="34" charset="0"/>
              </a:endParaRPr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9FFAC02A-07C5-641D-C205-FA95DC1E9875}"/>
              </a:ext>
            </a:extLst>
          </p:cNvPr>
          <p:cNvGrpSpPr/>
          <p:nvPr/>
        </p:nvGrpSpPr>
        <p:grpSpPr>
          <a:xfrm>
            <a:off x="7625190" y="1855049"/>
            <a:ext cx="2280428" cy="1152144"/>
            <a:chOff x="7635545" y="1845905"/>
            <a:chExt cx="2148840" cy="1051560"/>
          </a:xfrm>
        </p:grpSpPr>
        <p:sp>
          <p:nvSpPr>
            <p:cNvPr id="51" name="Shape 21">
              <a:extLst>
                <a:ext uri="{FF2B5EF4-FFF2-40B4-BE49-F238E27FC236}">
                  <a16:creationId xmlns:a16="http://schemas.microsoft.com/office/drawing/2014/main" id="{3229112F-4A0A-781C-8382-745D46C36583}"/>
                </a:ext>
              </a:extLst>
            </p:cNvPr>
            <p:cNvSpPr/>
            <p:nvPr/>
          </p:nvSpPr>
          <p:spPr>
            <a:xfrm>
              <a:off x="7635545" y="1845905"/>
              <a:ext cx="2148840" cy="105156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12700">
              <a:solidFill>
                <a:srgbClr val="B8C7D9"/>
              </a:solidFill>
              <a:prstDash val="solid"/>
            </a:ln>
            <a:effectLst>
              <a:outerShdw blurRad="15240" dist="7620" dir="27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52" name="Shape 22">
              <a:extLst>
                <a:ext uri="{FF2B5EF4-FFF2-40B4-BE49-F238E27FC236}">
                  <a16:creationId xmlns:a16="http://schemas.microsoft.com/office/drawing/2014/main" id="{8E3EEF06-8E79-C73D-4EFA-BE2F83516B26}"/>
                </a:ext>
              </a:extLst>
            </p:cNvPr>
            <p:cNvSpPr/>
            <p:nvPr/>
          </p:nvSpPr>
          <p:spPr>
            <a:xfrm>
              <a:off x="7772705" y="1983065"/>
              <a:ext cx="566928" cy="566928"/>
            </a:xfrm>
            <a:prstGeom prst="roundRect">
              <a:avLst>
                <a:gd name="adj" fmla="val 12903"/>
              </a:avLst>
            </a:prstGeom>
            <a:solidFill>
              <a:srgbClr val="E15A58"/>
            </a:solidFill>
            <a:ln w="12700">
              <a:solidFill>
                <a:srgbClr val="E15A58"/>
              </a:solidFill>
              <a:prstDash val="solid"/>
            </a:ln>
          </p:spPr>
        </p:sp>
        <p:sp>
          <p:nvSpPr>
            <p:cNvPr id="53" name="Text 23">
              <a:extLst>
                <a:ext uri="{FF2B5EF4-FFF2-40B4-BE49-F238E27FC236}">
                  <a16:creationId xmlns:a16="http://schemas.microsoft.com/office/drawing/2014/main" id="{F66699B9-98D2-A615-A58B-39898A4CC197}"/>
                </a:ext>
              </a:extLst>
            </p:cNvPr>
            <p:cNvSpPr/>
            <p:nvPr/>
          </p:nvSpPr>
          <p:spPr>
            <a:xfrm>
              <a:off x="8440217" y="2001353"/>
              <a:ext cx="123444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E15A58"/>
                  </a:solidFill>
                  <a:latin typeface="Arial Nova Light" panose="020B0304020202020204" pitchFamily="34" charset="0"/>
                </a:rPr>
                <a:t>60.37%</a:t>
              </a:r>
              <a:endParaRPr lang="en-US" sz="2400" dirty="0">
                <a:latin typeface="Arial Nova Light" panose="020B0304020202020204" pitchFamily="34" charset="0"/>
              </a:endParaRPr>
            </a:p>
          </p:txBody>
        </p:sp>
        <p:sp>
          <p:nvSpPr>
            <p:cNvPr id="54" name="Text 24">
              <a:extLst>
                <a:ext uri="{FF2B5EF4-FFF2-40B4-BE49-F238E27FC236}">
                  <a16:creationId xmlns:a16="http://schemas.microsoft.com/office/drawing/2014/main" id="{F83C76FE-66E3-FD08-C4AF-030EF9923653}"/>
                </a:ext>
              </a:extLst>
            </p:cNvPr>
            <p:cNvSpPr/>
            <p:nvPr/>
          </p:nvSpPr>
          <p:spPr>
            <a:xfrm>
              <a:off x="8440217" y="2284817"/>
              <a:ext cx="123444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C2733"/>
                  </a:solidFill>
                  <a:latin typeface="Arial Nova Light" panose="020B0304020202020204" pitchFamily="34" charset="0"/>
                </a:rPr>
                <a:t>F1-score fisuras</a:t>
              </a:r>
              <a:endParaRPr lang="en-US" sz="1200" dirty="0">
                <a:latin typeface="Arial Nova Light" panose="020B0304020202020204" pitchFamily="34" charset="0"/>
              </a:endParaRPr>
            </a:p>
          </p:txBody>
        </p:sp>
        <p:sp>
          <p:nvSpPr>
            <p:cNvPr id="55" name="Text 25">
              <a:extLst>
                <a:ext uri="{FF2B5EF4-FFF2-40B4-BE49-F238E27FC236}">
                  <a16:creationId xmlns:a16="http://schemas.microsoft.com/office/drawing/2014/main" id="{84AD71EE-D631-D2AA-20EB-282516AC0534}"/>
                </a:ext>
              </a:extLst>
            </p:cNvPr>
            <p:cNvSpPr/>
            <p:nvPr/>
          </p:nvSpPr>
          <p:spPr>
            <a:xfrm>
              <a:off x="7800137" y="2632289"/>
              <a:ext cx="1819656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C6675"/>
                  </a:solidFill>
                  <a:latin typeface="Arial Nova Light" panose="020B0304020202020204" pitchFamily="34" charset="0"/>
                </a:rPr>
                <a:t>Equilibrio precisión/sensibilidad</a:t>
              </a:r>
              <a:endParaRPr lang="en-US" sz="1050" dirty="0">
                <a:latin typeface="Arial Nova Light" panose="020B0304020202020204" pitchFamily="34" charset="0"/>
              </a:endParaRPr>
            </a:p>
          </p:txBody>
        </p:sp>
      </p:grpSp>
      <p:sp>
        <p:nvSpPr>
          <p:cNvPr id="56" name="Shape 26">
            <a:extLst>
              <a:ext uri="{FF2B5EF4-FFF2-40B4-BE49-F238E27FC236}">
                <a16:creationId xmlns:a16="http://schemas.microsoft.com/office/drawing/2014/main" id="{5BEA36B4-A1D9-3B8C-514C-AFEF005CBA81}"/>
              </a:ext>
            </a:extLst>
          </p:cNvPr>
          <p:cNvSpPr/>
          <p:nvPr/>
        </p:nvSpPr>
        <p:spPr>
          <a:xfrm>
            <a:off x="642094" y="3220933"/>
            <a:ext cx="662940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  <a:effectLst>
            <a:outerShdw blurRad="15240" dist="762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8" name="Image 0" descr="preencoded.png">
            <a:extLst>
              <a:ext uri="{FF2B5EF4-FFF2-40B4-BE49-F238E27FC236}">
                <a16:creationId xmlns:a16="http://schemas.microsoft.com/office/drawing/2014/main" id="{E8289227-7F24-EB47-5F26-C650D7249A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6414" y="3925021"/>
            <a:ext cx="594360" cy="594360"/>
          </a:xfrm>
          <a:prstGeom prst="rect">
            <a:avLst/>
          </a:prstGeom>
        </p:spPr>
      </p:pic>
      <p:sp>
        <p:nvSpPr>
          <p:cNvPr id="59" name="Text 28">
            <a:extLst>
              <a:ext uri="{FF2B5EF4-FFF2-40B4-BE49-F238E27FC236}">
                <a16:creationId xmlns:a16="http://schemas.microsoft.com/office/drawing/2014/main" id="{6AE763D9-F8EE-F5A8-DCC0-D6588DA8B8EC}"/>
              </a:ext>
            </a:extLst>
          </p:cNvPr>
          <p:cNvSpPr/>
          <p:nvPr/>
        </p:nvSpPr>
        <p:spPr>
          <a:xfrm>
            <a:off x="1711942" y="3925021"/>
            <a:ext cx="49377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C2733"/>
                </a:solidFill>
                <a:latin typeface="Arial Nova Light" panose="020B0304020202020204" pitchFamily="34" charset="0"/>
              </a:rPr>
              <a:t>El modelo logra un desempeño global adecuado, con buena discriminación y sensibilidad relevante para inspección preventiva.</a:t>
            </a:r>
            <a:endParaRPr lang="en-US" sz="1600" dirty="0">
              <a:latin typeface="Arial Nova Light" panose="020B0304020202020204" pitchFamily="34" charset="0"/>
            </a:endParaRPr>
          </a:p>
        </p:txBody>
      </p:sp>
      <p:sp>
        <p:nvSpPr>
          <p:cNvPr id="60" name="Text 29">
            <a:extLst>
              <a:ext uri="{FF2B5EF4-FFF2-40B4-BE49-F238E27FC236}">
                <a16:creationId xmlns:a16="http://schemas.microsoft.com/office/drawing/2014/main" id="{F45EB42C-12CB-98CA-97D5-D6926796251E}"/>
              </a:ext>
            </a:extLst>
          </p:cNvPr>
          <p:cNvSpPr/>
          <p:nvPr/>
        </p:nvSpPr>
        <p:spPr>
          <a:xfrm>
            <a:off x="1711942" y="4683973"/>
            <a:ext cx="49377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C6675"/>
                </a:solidFill>
                <a:latin typeface="Arial Nova Light" panose="020B0304020202020204" pitchFamily="34" charset="0"/>
              </a:rPr>
              <a:t>La principal oportunidad de mejora está en la precisión de la clase positiva: reducir falsos positivos sin perder capacidad de detección de fisuras.</a:t>
            </a:r>
            <a:endParaRPr lang="en-US" sz="1400" dirty="0">
              <a:latin typeface="Arial Nova Light" panose="020B0304020202020204" pitchFamily="34" charset="0"/>
            </a:endParaRPr>
          </a:p>
        </p:txBody>
      </p:sp>
      <p:sp>
        <p:nvSpPr>
          <p:cNvPr id="61" name="Shape 30">
            <a:extLst>
              <a:ext uri="{FF2B5EF4-FFF2-40B4-BE49-F238E27FC236}">
                <a16:creationId xmlns:a16="http://schemas.microsoft.com/office/drawing/2014/main" id="{03FA07AF-EA09-6DB8-52A4-DED18A7E22EA}"/>
              </a:ext>
            </a:extLst>
          </p:cNvPr>
          <p:cNvSpPr/>
          <p:nvPr/>
        </p:nvSpPr>
        <p:spPr>
          <a:xfrm>
            <a:off x="7452666" y="3157473"/>
            <a:ext cx="2893834" cy="2848952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  <a:effectLst>
            <a:outerShdw blurRad="15240" dist="762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2" name="Image 1" descr="/mnt/data/resultados_ppt_assets/support_donut.png">
            <a:extLst>
              <a:ext uri="{FF2B5EF4-FFF2-40B4-BE49-F238E27FC236}">
                <a16:creationId xmlns:a16="http://schemas.microsoft.com/office/drawing/2014/main" id="{3423CD09-A6FC-4AB0-97CE-585A1A656D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5419" y="3242561"/>
            <a:ext cx="2030199" cy="2573492"/>
          </a:xfrm>
          <a:prstGeom prst="rect">
            <a:avLst/>
          </a:prstGeom>
        </p:spPr>
      </p:pic>
      <p:sp>
        <p:nvSpPr>
          <p:cNvPr id="63" name="Shape 31">
            <a:extLst>
              <a:ext uri="{FF2B5EF4-FFF2-40B4-BE49-F238E27FC236}">
                <a16:creationId xmlns:a16="http://schemas.microsoft.com/office/drawing/2014/main" id="{4458F59C-2F25-739F-77E0-2C19FB2F2990}"/>
              </a:ext>
            </a:extLst>
          </p:cNvPr>
          <p:cNvSpPr/>
          <p:nvPr/>
        </p:nvSpPr>
        <p:spPr>
          <a:xfrm>
            <a:off x="687814" y="6073861"/>
            <a:ext cx="1920240" cy="292608"/>
          </a:xfrm>
          <a:prstGeom prst="roundRect">
            <a:avLst>
              <a:gd name="adj" fmla="val 21875"/>
            </a:avLst>
          </a:prstGeom>
          <a:solidFill>
            <a:srgbClr val="073B86"/>
          </a:solidFill>
          <a:ln w="12700">
            <a:solidFill>
              <a:srgbClr val="073B86"/>
            </a:solidFill>
            <a:prstDash val="solid"/>
          </a:ln>
        </p:spPr>
      </p:sp>
      <p:sp>
        <p:nvSpPr>
          <p:cNvPr id="6144" name="Text 32">
            <a:extLst>
              <a:ext uri="{FF2B5EF4-FFF2-40B4-BE49-F238E27FC236}">
                <a16:creationId xmlns:a16="http://schemas.microsoft.com/office/drawing/2014/main" id="{04AE735E-0F0F-9563-5085-21AE0FCBFA6B}"/>
              </a:ext>
            </a:extLst>
          </p:cNvPr>
          <p:cNvSpPr/>
          <p:nvPr/>
        </p:nvSpPr>
        <p:spPr>
          <a:xfrm>
            <a:off x="733534" y="6151585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Nova Light" panose="020B0304020202020204" pitchFamily="34" charset="0"/>
              </a:rPr>
              <a:t>Umbral de clasificación: 0.50</a:t>
            </a:r>
            <a:endParaRPr lang="en-US" sz="1100" dirty="0">
              <a:latin typeface="Arial Nova Light" panose="020B0304020202020204" pitchFamily="34" charset="0"/>
            </a:endParaRPr>
          </a:p>
        </p:txBody>
      </p:sp>
      <p:sp>
        <p:nvSpPr>
          <p:cNvPr id="6145" name="Shape 33">
            <a:extLst>
              <a:ext uri="{FF2B5EF4-FFF2-40B4-BE49-F238E27FC236}">
                <a16:creationId xmlns:a16="http://schemas.microsoft.com/office/drawing/2014/main" id="{EE3BFE43-06A3-5419-C096-E4C8D59933E6}"/>
              </a:ext>
            </a:extLst>
          </p:cNvPr>
          <p:cNvSpPr/>
          <p:nvPr/>
        </p:nvSpPr>
        <p:spPr>
          <a:xfrm>
            <a:off x="2836654" y="6073861"/>
            <a:ext cx="2011680" cy="292608"/>
          </a:xfrm>
          <a:prstGeom prst="roundRect">
            <a:avLst>
              <a:gd name="adj" fmla="val 21875"/>
            </a:avLst>
          </a:prstGeom>
          <a:solidFill>
            <a:srgbClr val="1F8A9C"/>
          </a:solidFill>
          <a:ln w="12700">
            <a:solidFill>
              <a:srgbClr val="1F8A9C"/>
            </a:solidFill>
            <a:prstDash val="solid"/>
          </a:ln>
        </p:spPr>
      </p:sp>
      <p:sp>
        <p:nvSpPr>
          <p:cNvPr id="6146" name="Text 34">
            <a:extLst>
              <a:ext uri="{FF2B5EF4-FFF2-40B4-BE49-F238E27FC236}">
                <a16:creationId xmlns:a16="http://schemas.microsoft.com/office/drawing/2014/main" id="{808B1C96-9756-CD91-0B84-EA0B92F68990}"/>
              </a:ext>
            </a:extLst>
          </p:cNvPr>
          <p:cNvSpPr/>
          <p:nvPr/>
        </p:nvSpPr>
        <p:spPr>
          <a:xfrm>
            <a:off x="2882374" y="6151585"/>
            <a:ext cx="1920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Nova Light" panose="020B0304020202020204" pitchFamily="34" charset="0"/>
              </a:rPr>
              <a:t>Tarea: clasificación + medición</a:t>
            </a:r>
            <a:endParaRPr lang="en-US" sz="1100" dirty="0">
              <a:latin typeface="Arial Nova Light" panose="020B0304020202020204" pitchFamily="34" charset="0"/>
            </a:endParaRPr>
          </a:p>
        </p:txBody>
      </p:sp>
      <p:sp>
        <p:nvSpPr>
          <p:cNvPr id="6147" name="Shape 35">
            <a:extLst>
              <a:ext uri="{FF2B5EF4-FFF2-40B4-BE49-F238E27FC236}">
                <a16:creationId xmlns:a16="http://schemas.microsoft.com/office/drawing/2014/main" id="{F4243ABD-2ED6-7BB4-9007-7DA2EA4611B8}"/>
              </a:ext>
            </a:extLst>
          </p:cNvPr>
          <p:cNvSpPr/>
          <p:nvPr/>
        </p:nvSpPr>
        <p:spPr>
          <a:xfrm>
            <a:off x="5076934" y="6073861"/>
            <a:ext cx="1554480" cy="292608"/>
          </a:xfrm>
          <a:prstGeom prst="roundRect">
            <a:avLst>
              <a:gd name="adj" fmla="val 21875"/>
            </a:avLst>
          </a:prstGeom>
          <a:solidFill>
            <a:srgbClr val="E15A58"/>
          </a:solidFill>
          <a:ln w="12700">
            <a:solidFill>
              <a:srgbClr val="E15A58"/>
            </a:solidFill>
            <a:prstDash val="solid"/>
          </a:ln>
        </p:spPr>
      </p:sp>
      <p:sp>
        <p:nvSpPr>
          <p:cNvPr id="6148" name="Text 36">
            <a:extLst>
              <a:ext uri="{FF2B5EF4-FFF2-40B4-BE49-F238E27FC236}">
                <a16:creationId xmlns:a16="http://schemas.microsoft.com/office/drawing/2014/main" id="{FAE3A715-3115-0FE0-09D2-721453E77FE2}"/>
              </a:ext>
            </a:extLst>
          </p:cNvPr>
          <p:cNvSpPr/>
          <p:nvPr/>
        </p:nvSpPr>
        <p:spPr>
          <a:xfrm>
            <a:off x="5122654" y="6151585"/>
            <a:ext cx="1463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Nova Light" panose="020B0304020202020204" pitchFamily="34" charset="0"/>
              </a:rPr>
              <a:t>Clase crítica: fisura</a:t>
            </a:r>
            <a:endParaRPr lang="en-US" sz="1100" dirty="0">
              <a:latin typeface="Arial Nova Light" panose="020B03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182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99A384-2590-DCD9-3A72-C91A948F57EF}"/>
              </a:ext>
            </a:extLst>
          </p:cNvPr>
          <p:cNvSpPr/>
          <p:nvPr/>
        </p:nvSpPr>
        <p:spPr>
          <a:xfrm>
            <a:off x="-221" y="-318062"/>
            <a:ext cx="12192219" cy="1005840"/>
          </a:xfrm>
          <a:prstGeom prst="rect">
            <a:avLst/>
          </a:prstGeom>
          <a:solidFill>
            <a:srgbClr val="061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8697274-9406-1811-83CC-652269239794}"/>
              </a:ext>
            </a:extLst>
          </p:cNvPr>
          <p:cNvSpPr txBox="1"/>
          <p:nvPr/>
        </p:nvSpPr>
        <p:spPr>
          <a:xfrm>
            <a:off x="91447" y="127852"/>
            <a:ext cx="257795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es-MX" sz="2400" dirty="0">
                <a:solidFill>
                  <a:srgbClr val="FFFFFF"/>
                </a:solidFill>
                <a:latin typeface="Roboto Black" panose="020B0604020202020204" pitchFamily="2" charset="0"/>
                <a:ea typeface="Roboto Black" panose="020B0604020202020204" pitchFamily="2" charset="0"/>
              </a:rPr>
              <a:t>III. RESULTADOS</a:t>
            </a:r>
            <a:endParaRPr sz="2400" dirty="0"/>
          </a:p>
        </p:txBody>
      </p:sp>
      <p:pic>
        <p:nvPicPr>
          <p:cNvPr id="4" name="Picture 2" descr="EPG de la UPC: &quot;Hoy necesitamos especialistas en la gestión de riesgos y la  protección de los datos&quot; | Semana Económica">
            <a:extLst>
              <a:ext uri="{FF2B5EF4-FFF2-40B4-BE49-F238E27FC236}">
                <a16:creationId xmlns:a16="http://schemas.microsoft.com/office/drawing/2014/main" id="{9C49707F-C3AE-63FD-324D-244DA8931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1377" y="-198365"/>
            <a:ext cx="1313881" cy="886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hape 1">
            <a:extLst>
              <a:ext uri="{FF2B5EF4-FFF2-40B4-BE49-F238E27FC236}">
                <a16:creationId xmlns:a16="http://schemas.microsoft.com/office/drawing/2014/main" id="{F21E4B31-32D8-4D43-F3DC-E8C5431F3616}"/>
              </a:ext>
            </a:extLst>
          </p:cNvPr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F4FA"/>
          </a:solidFill>
          <a:ln w="12700">
            <a:solidFill>
              <a:srgbClr val="E6F4FA"/>
            </a:solidFill>
            <a:prstDash val="solid"/>
          </a:ln>
        </p:spPr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86FF426F-1299-95A8-93B1-16176EDFA5EA}"/>
              </a:ext>
            </a:extLst>
          </p:cNvPr>
          <p:cNvSpPr/>
          <p:nvPr/>
        </p:nvSpPr>
        <p:spPr>
          <a:xfrm>
            <a:off x="396241" y="769019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u="sng" dirty="0">
                <a:solidFill>
                  <a:srgbClr val="052B63"/>
                </a:solidFill>
                <a:latin typeface="Arial Nova Light" panose="020B0304020202020204" pitchFamily="34" charset="0"/>
                <a:ea typeface="Aptos Display" pitchFamily="34" charset="-122"/>
                <a:cs typeface="Aptos Display" pitchFamily="34" charset="-120"/>
              </a:rPr>
              <a:t>Resultados por clase</a:t>
            </a:r>
            <a:endParaRPr lang="en-US" sz="2400" u="sng" dirty="0">
              <a:latin typeface="Arial Nova Light" panose="020B0304020202020204" pitchFamily="34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06C661E3-FA01-22EE-02C3-7D52018255BA}"/>
              </a:ext>
            </a:extLst>
          </p:cNvPr>
          <p:cNvSpPr/>
          <p:nvPr/>
        </p:nvSpPr>
        <p:spPr>
          <a:xfrm>
            <a:off x="459486" y="122529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C6675"/>
                </a:solidFill>
                <a:latin typeface="Arial Nova Light" panose="020B0304020202020204" pitchFamily="34" charset="0"/>
              </a:rPr>
              <a:t>La clase sin fisura es fuerte; la clase con fisura prioriza sensibilidad</a:t>
            </a:r>
            <a:endParaRPr lang="en-US" sz="1400" dirty="0">
              <a:latin typeface="Arial Nova Light" panose="020B0304020202020204" pitchFamily="34" charset="0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7D066D94-9C25-4473-D5AB-D6CEDD19B3AC}"/>
              </a:ext>
            </a:extLst>
          </p:cNvPr>
          <p:cNvSpPr/>
          <p:nvPr/>
        </p:nvSpPr>
        <p:spPr>
          <a:xfrm>
            <a:off x="438911" y="1602178"/>
            <a:ext cx="7054645" cy="385917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  <a:effectLst>
            <a:outerShdw blurRad="15240" dist="762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0" descr="/mnt/data/resultados_ppt_assets/class_metrics.png">
            <a:extLst>
              <a:ext uri="{FF2B5EF4-FFF2-40B4-BE49-F238E27FC236}">
                <a16:creationId xmlns:a16="http://schemas.microsoft.com/office/drawing/2014/main" id="{8F831A92-CAB7-181D-A480-8261FD2AF9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758"/>
          <a:stretch/>
        </p:blipFill>
        <p:spPr>
          <a:xfrm>
            <a:off x="608076" y="1964576"/>
            <a:ext cx="6798564" cy="3247394"/>
          </a:xfrm>
          <a:prstGeom prst="rect">
            <a:avLst/>
          </a:prstGeom>
        </p:spPr>
      </p:pic>
      <p:sp>
        <p:nvSpPr>
          <p:cNvPr id="10" name="Shape 5">
            <a:extLst>
              <a:ext uri="{FF2B5EF4-FFF2-40B4-BE49-F238E27FC236}">
                <a16:creationId xmlns:a16="http://schemas.microsoft.com/office/drawing/2014/main" id="{C70FA94F-E402-3E4B-FA0C-696BD8AF9CAD}"/>
              </a:ext>
            </a:extLst>
          </p:cNvPr>
          <p:cNvSpPr/>
          <p:nvPr/>
        </p:nvSpPr>
        <p:spPr>
          <a:xfrm>
            <a:off x="7818120" y="1143000"/>
            <a:ext cx="3794760" cy="452628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  <a:effectLst>
            <a:outerShdw blurRad="15240" dist="762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D921DA89-62E4-713A-5F96-8FFF96CA3C65}"/>
              </a:ext>
            </a:extLst>
          </p:cNvPr>
          <p:cNvSpPr/>
          <p:nvPr/>
        </p:nvSpPr>
        <p:spPr>
          <a:xfrm>
            <a:off x="8161020" y="1332281"/>
            <a:ext cx="1133856" cy="292608"/>
          </a:xfrm>
          <a:prstGeom prst="roundRect">
            <a:avLst>
              <a:gd name="adj" fmla="val 21875"/>
            </a:avLst>
          </a:prstGeom>
          <a:solidFill>
            <a:srgbClr val="1D5AA6"/>
          </a:solidFill>
          <a:ln w="12700">
            <a:solidFill>
              <a:srgbClr val="1D5AA6"/>
            </a:solidFill>
            <a:prstDash val="solid"/>
          </a:ln>
        </p:spPr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E1A83DF0-12A8-A43F-0FD7-BC8946031940}"/>
              </a:ext>
            </a:extLst>
          </p:cNvPr>
          <p:cNvSpPr/>
          <p:nvPr/>
        </p:nvSpPr>
        <p:spPr>
          <a:xfrm>
            <a:off x="8193024" y="1388688"/>
            <a:ext cx="1042416" cy="1741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 Nova Light" panose="020B0304020202020204" pitchFamily="34" charset="0"/>
              </a:rPr>
              <a:t>Sin fisura</a:t>
            </a:r>
            <a:endParaRPr lang="en-US" sz="1050" dirty="0">
              <a:latin typeface="Arial Nova Light" panose="020B0304020202020204" pitchFamily="34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D0BCE6B2-82AF-64E8-D12D-94140EDB1743}"/>
              </a:ext>
            </a:extLst>
          </p:cNvPr>
          <p:cNvSpPr/>
          <p:nvPr/>
        </p:nvSpPr>
        <p:spPr>
          <a:xfrm>
            <a:off x="8193024" y="1844966"/>
            <a:ext cx="3063240" cy="7738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C2733"/>
                </a:solidFill>
                <a:latin typeface="Arial Nova Light" panose="020B0304020202020204" pitchFamily="34" charset="0"/>
              </a:rPr>
              <a:t>Precisión 95.36% y F1-score 90.62%: el modelo clasifica muy bien las superficies sanas.</a:t>
            </a:r>
            <a:endParaRPr lang="en-US" sz="1400" dirty="0">
              <a:latin typeface="Arial Nova Light" panose="020B0304020202020204" pitchFamily="34" charset="0"/>
            </a:endParaRP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6AFC8A32-4E4F-1D32-EAE6-EC5DE07EEF2B}"/>
              </a:ext>
            </a:extLst>
          </p:cNvPr>
          <p:cNvSpPr/>
          <p:nvPr/>
        </p:nvSpPr>
        <p:spPr>
          <a:xfrm>
            <a:off x="8161020" y="2805375"/>
            <a:ext cx="1170432" cy="292608"/>
          </a:xfrm>
          <a:prstGeom prst="roundRect">
            <a:avLst>
              <a:gd name="adj" fmla="val 21875"/>
            </a:avLst>
          </a:prstGeom>
          <a:solidFill>
            <a:srgbClr val="E15A58"/>
          </a:solidFill>
          <a:ln w="12700">
            <a:solidFill>
              <a:srgbClr val="E15A58"/>
            </a:solidFill>
            <a:prstDash val="solid"/>
          </a:ln>
        </p:spPr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55BE1718-595E-1745-D8C0-5C3E41228DA2}"/>
              </a:ext>
            </a:extLst>
          </p:cNvPr>
          <p:cNvSpPr/>
          <p:nvPr/>
        </p:nvSpPr>
        <p:spPr>
          <a:xfrm>
            <a:off x="8154945" y="2854339"/>
            <a:ext cx="1118574" cy="166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Nova Light" panose="020B0304020202020204" pitchFamily="34" charset="0"/>
              </a:rPr>
              <a:t>Con fisura</a:t>
            </a:r>
            <a:endParaRPr lang="en-US" sz="1000" dirty="0">
              <a:latin typeface="Arial Nova Light" panose="020B0304020202020204" pitchFamily="34" charset="0"/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0337FDE1-BC1A-1300-6E2F-4CB1BD95835F}"/>
              </a:ext>
            </a:extLst>
          </p:cNvPr>
          <p:cNvSpPr/>
          <p:nvPr/>
        </p:nvSpPr>
        <p:spPr>
          <a:xfrm>
            <a:off x="8225077" y="3333828"/>
            <a:ext cx="3063240" cy="77692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C2733"/>
                </a:solidFill>
                <a:latin typeface="Arial Nova Light" panose="020B0304020202020204" pitchFamily="34" charset="0"/>
              </a:rPr>
              <a:t>Recall 76.42%: detecta una proporción importante de fisuras reales, aunque la precisión 49.90% muestra falsos positivos.</a:t>
            </a:r>
            <a:endParaRPr lang="en-US" sz="1400" dirty="0">
              <a:latin typeface="Arial Nova Light" panose="020B0304020202020204" pitchFamily="34" charset="0"/>
            </a:endParaRPr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A64F9443-51C7-755C-067A-E18E1A0D1A69}"/>
              </a:ext>
            </a:extLst>
          </p:cNvPr>
          <p:cNvSpPr/>
          <p:nvPr/>
        </p:nvSpPr>
        <p:spPr>
          <a:xfrm>
            <a:off x="8183880" y="4441855"/>
            <a:ext cx="3017520" cy="0"/>
          </a:xfrm>
          <a:prstGeom prst="line">
            <a:avLst/>
          </a:prstGeom>
          <a:noFill/>
          <a:ln w="12700">
            <a:solidFill>
              <a:srgbClr val="D8E5F3"/>
            </a:solidFill>
            <a:prstDash val="solid"/>
          </a:ln>
        </p:spPr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EE82776A-F57B-D483-3C96-A980206B05D2}"/>
              </a:ext>
            </a:extLst>
          </p:cNvPr>
          <p:cNvSpPr/>
          <p:nvPr/>
        </p:nvSpPr>
        <p:spPr>
          <a:xfrm>
            <a:off x="8161020" y="4537112"/>
            <a:ext cx="3063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just">
              <a:buNone/>
            </a:pPr>
            <a:r>
              <a:rPr lang="en-US" sz="1200" b="1" dirty="0">
                <a:solidFill>
                  <a:srgbClr val="1F8A9C"/>
                </a:solidFill>
                <a:latin typeface="Arial Nova Light" panose="020B0304020202020204" pitchFamily="34" charset="0"/>
              </a:rPr>
              <a:t>Mensaje para exposición: el modelo es útil como filtro de inspección, pero debe calibrarse para disminuir alertas falsas.</a:t>
            </a:r>
            <a:endParaRPr lang="en-US" sz="1200" dirty="0">
              <a:latin typeface="Arial Nova Light" panose="020B03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053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99A384-2590-DCD9-3A72-C91A948F57EF}"/>
              </a:ext>
            </a:extLst>
          </p:cNvPr>
          <p:cNvSpPr/>
          <p:nvPr/>
        </p:nvSpPr>
        <p:spPr>
          <a:xfrm>
            <a:off x="-221" y="-318062"/>
            <a:ext cx="12192219" cy="1005840"/>
          </a:xfrm>
          <a:prstGeom prst="rect">
            <a:avLst/>
          </a:prstGeom>
          <a:solidFill>
            <a:srgbClr val="061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8697274-9406-1811-83CC-652269239794}"/>
              </a:ext>
            </a:extLst>
          </p:cNvPr>
          <p:cNvSpPr txBox="1"/>
          <p:nvPr/>
        </p:nvSpPr>
        <p:spPr>
          <a:xfrm>
            <a:off x="91447" y="127852"/>
            <a:ext cx="257795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es-MX" sz="2400" dirty="0">
                <a:solidFill>
                  <a:srgbClr val="FFFFFF"/>
                </a:solidFill>
                <a:latin typeface="Roboto Black" panose="020B0604020202020204" pitchFamily="2" charset="0"/>
                <a:ea typeface="Roboto Black" panose="020B0604020202020204" pitchFamily="2" charset="0"/>
              </a:rPr>
              <a:t>III. RESULTADOS</a:t>
            </a:r>
            <a:endParaRPr sz="2400" dirty="0"/>
          </a:p>
        </p:txBody>
      </p:sp>
      <p:pic>
        <p:nvPicPr>
          <p:cNvPr id="4" name="Picture 2" descr="EPG de la UPC: &quot;Hoy necesitamos especialistas en la gestión de riesgos y la  protección de los datos&quot; | Semana Económica">
            <a:extLst>
              <a:ext uri="{FF2B5EF4-FFF2-40B4-BE49-F238E27FC236}">
                <a16:creationId xmlns:a16="http://schemas.microsoft.com/office/drawing/2014/main" id="{9C49707F-C3AE-63FD-324D-244DA8931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1377" y="-198365"/>
            <a:ext cx="1313881" cy="886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9F641D72-E956-44D4-B098-0F0C04B56C0A}"/>
              </a:ext>
            </a:extLst>
          </p:cNvPr>
          <p:cNvSpPr/>
          <p:nvPr/>
        </p:nvSpPr>
        <p:spPr>
          <a:xfrm>
            <a:off x="530352" y="770074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52B63"/>
                </a:solidFill>
                <a:latin typeface="Arial Nova Light" panose="020B0304020202020204" pitchFamily="34" charset="0"/>
                <a:ea typeface="Aptos Display" pitchFamily="34" charset="-122"/>
                <a:cs typeface="Aptos Display" pitchFamily="34" charset="-120"/>
              </a:rPr>
              <a:t>Matriz de confusión</a:t>
            </a:r>
            <a:endParaRPr lang="en-US" sz="2400" dirty="0">
              <a:latin typeface="Arial Nova Light" panose="020B0304020202020204" pitchFamily="34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0C502DE-B6F7-17E5-233C-FB8712CF301B}"/>
              </a:ext>
            </a:extLst>
          </p:cNvPr>
          <p:cNvSpPr/>
          <p:nvPr/>
        </p:nvSpPr>
        <p:spPr>
          <a:xfrm>
            <a:off x="557784" y="1227274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C6675"/>
                </a:solidFill>
                <a:latin typeface="Arial Nova Light" panose="020B0304020202020204" pitchFamily="34" charset="0"/>
              </a:rPr>
              <a:t>Dónde acierta y dónde se equivoca el modelo</a:t>
            </a:r>
            <a:endParaRPr lang="en-US" sz="1400" dirty="0">
              <a:latin typeface="Arial Nova Light" panose="020B0304020202020204" pitchFamily="34" charset="0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F3DF3D89-068C-CCEF-524C-2B4A48AE1D9B}"/>
              </a:ext>
            </a:extLst>
          </p:cNvPr>
          <p:cNvSpPr/>
          <p:nvPr/>
        </p:nvSpPr>
        <p:spPr>
          <a:xfrm>
            <a:off x="621792" y="1602178"/>
            <a:ext cx="580644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  <a:effectLst>
            <a:outerShdw blurRad="15240" dist="762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0" descr="/mnt/data/resultados_ppt_assets/confusion_clean.png">
            <a:extLst>
              <a:ext uri="{FF2B5EF4-FFF2-40B4-BE49-F238E27FC236}">
                <a16:creationId xmlns:a16="http://schemas.microsoft.com/office/drawing/2014/main" id="{D0E44B7E-F708-6EBA-E5A0-317DF35C2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456" y="1785058"/>
            <a:ext cx="5108411" cy="4434840"/>
          </a:xfrm>
          <a:prstGeom prst="rect">
            <a:avLst/>
          </a:prstGeom>
        </p:spPr>
      </p:pic>
      <p:sp>
        <p:nvSpPr>
          <p:cNvPr id="11" name="Shape 5">
            <a:extLst>
              <a:ext uri="{FF2B5EF4-FFF2-40B4-BE49-F238E27FC236}">
                <a16:creationId xmlns:a16="http://schemas.microsoft.com/office/drawing/2014/main" id="{BEF18245-3FDB-D999-805C-BF944BF2D6D9}"/>
              </a:ext>
            </a:extLst>
          </p:cNvPr>
          <p:cNvSpPr/>
          <p:nvPr/>
        </p:nvSpPr>
        <p:spPr>
          <a:xfrm>
            <a:off x="6748272" y="1602178"/>
            <a:ext cx="4983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  <a:effectLst>
            <a:outerShdw blurRad="15240" dist="762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813139FF-67E4-4C84-E12E-478B7254017B}"/>
              </a:ext>
            </a:extLst>
          </p:cNvPr>
          <p:cNvSpPr/>
          <p:nvPr/>
        </p:nvSpPr>
        <p:spPr>
          <a:xfrm>
            <a:off x="7050024" y="190393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4A156"/>
                </a:solidFill>
                <a:latin typeface="Arial Nova Light" panose="020B0304020202020204" pitchFamily="34" charset="0"/>
              </a:rPr>
              <a:t>Aciertos</a:t>
            </a:r>
            <a:endParaRPr lang="en-US" dirty="0">
              <a:latin typeface="Arial Nova Light" panose="020B0304020202020204" pitchFamily="34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B8227AA5-2DFE-63DA-29DF-6E4E90E92526}"/>
              </a:ext>
            </a:extLst>
          </p:cNvPr>
          <p:cNvSpPr/>
          <p:nvPr/>
        </p:nvSpPr>
        <p:spPr>
          <a:xfrm>
            <a:off x="7050024" y="236113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C2733"/>
                </a:solidFill>
                <a:latin typeface="Arial Nova Light" panose="020B0304020202020204" pitchFamily="34" charset="0"/>
              </a:rPr>
              <a:t>6,166 verdaderos negativos</a:t>
            </a:r>
            <a:endParaRPr lang="en-US" dirty="0">
              <a:latin typeface="Arial Nova Light" panose="020B0304020202020204" pitchFamily="34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1C2733"/>
                </a:solidFill>
                <a:latin typeface="Arial Nova Light" panose="020B0304020202020204" pitchFamily="34" charset="0"/>
              </a:rPr>
              <a:t>972 verdaderos positivos</a:t>
            </a:r>
            <a:endParaRPr lang="en-US" dirty="0">
              <a:latin typeface="Arial Nova Light" panose="020B0304020202020204" pitchFamily="34" charset="0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A4E205CD-39D0-C2AA-6F9F-8280133FBBA7}"/>
              </a:ext>
            </a:extLst>
          </p:cNvPr>
          <p:cNvSpPr/>
          <p:nvPr/>
        </p:nvSpPr>
        <p:spPr>
          <a:xfrm>
            <a:off x="7050024" y="3202378"/>
            <a:ext cx="41605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C6675"/>
                </a:solidFill>
                <a:latin typeface="Arial Nova Light" panose="020B0304020202020204" pitchFamily="34" charset="0"/>
              </a:rPr>
              <a:t>El modelo clasifica correctamente una gran cantidad de superficies sanas y detecta 972 fisuras reales.</a:t>
            </a:r>
            <a:endParaRPr lang="en-US" sz="1000" dirty="0">
              <a:latin typeface="Arial Nova Light" panose="020B0304020202020204" pitchFamily="34" charset="0"/>
            </a:endParaRP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A372F782-A8C7-64E0-D760-2630724F65E4}"/>
              </a:ext>
            </a:extLst>
          </p:cNvPr>
          <p:cNvSpPr/>
          <p:nvPr/>
        </p:nvSpPr>
        <p:spPr>
          <a:xfrm>
            <a:off x="6748272" y="4162498"/>
            <a:ext cx="4983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  <a:effectLst>
            <a:outerShdw blurRad="15240" dist="762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6" name="Image 1" descr="/mnt/data/resultados_ppt_assets/error_breakdown.png">
            <a:extLst>
              <a:ext uri="{FF2B5EF4-FFF2-40B4-BE49-F238E27FC236}">
                <a16:creationId xmlns:a16="http://schemas.microsoft.com/office/drawing/2014/main" id="{C5BA3300-93DB-4E97-05F2-1B2924BDEC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8124" y="4327090"/>
            <a:ext cx="3303776" cy="1417320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21072A90-57A7-E1EA-092F-B2109A10A128}"/>
              </a:ext>
            </a:extLst>
          </p:cNvPr>
          <p:cNvSpPr/>
          <p:nvPr/>
        </p:nvSpPr>
        <p:spPr>
          <a:xfrm>
            <a:off x="7050024" y="5899858"/>
            <a:ext cx="41605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E15A58"/>
                </a:solidFill>
                <a:latin typeface="Arial Nova Light" panose="020B0304020202020204" pitchFamily="34" charset="0"/>
              </a:rPr>
              <a:t>En inspección estructural, los falsos negativos son críticos porque representan fisuras reales no detectadas.</a:t>
            </a:r>
            <a:endParaRPr lang="en-US" sz="1000" dirty="0">
              <a:latin typeface="Arial Nova Light" panose="020B03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107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99A384-2590-DCD9-3A72-C91A948F57EF}"/>
              </a:ext>
            </a:extLst>
          </p:cNvPr>
          <p:cNvSpPr/>
          <p:nvPr/>
        </p:nvSpPr>
        <p:spPr>
          <a:xfrm>
            <a:off x="-221" y="-318062"/>
            <a:ext cx="12192219" cy="1005840"/>
          </a:xfrm>
          <a:prstGeom prst="rect">
            <a:avLst/>
          </a:prstGeom>
          <a:solidFill>
            <a:srgbClr val="061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8697274-9406-1811-83CC-652269239794}"/>
              </a:ext>
            </a:extLst>
          </p:cNvPr>
          <p:cNvSpPr txBox="1"/>
          <p:nvPr/>
        </p:nvSpPr>
        <p:spPr>
          <a:xfrm>
            <a:off x="91447" y="127852"/>
            <a:ext cx="257795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es-MX" sz="2400" dirty="0">
                <a:solidFill>
                  <a:srgbClr val="FFFFFF"/>
                </a:solidFill>
                <a:latin typeface="Roboto Black" panose="020B0604020202020204" pitchFamily="2" charset="0"/>
                <a:ea typeface="Roboto Black" panose="020B0604020202020204" pitchFamily="2" charset="0"/>
              </a:rPr>
              <a:t>III. RESULTADOS</a:t>
            </a:r>
            <a:endParaRPr sz="2400" dirty="0"/>
          </a:p>
        </p:txBody>
      </p:sp>
      <p:pic>
        <p:nvPicPr>
          <p:cNvPr id="4" name="Picture 2" descr="EPG de la UPC: &quot;Hoy necesitamos especialistas en la gestión de riesgos y la  protección de los datos&quot; | Semana Económica">
            <a:extLst>
              <a:ext uri="{FF2B5EF4-FFF2-40B4-BE49-F238E27FC236}">
                <a16:creationId xmlns:a16="http://schemas.microsoft.com/office/drawing/2014/main" id="{9C49707F-C3AE-63FD-324D-244DA8931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1377" y="-198365"/>
            <a:ext cx="1313881" cy="886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16EA7DB3-330C-6E02-B9FA-C6F4FE861081}"/>
              </a:ext>
            </a:extLst>
          </p:cNvPr>
          <p:cNvSpPr/>
          <p:nvPr/>
        </p:nvSpPr>
        <p:spPr>
          <a:xfrm>
            <a:off x="438912" y="77868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52B63"/>
                </a:solidFill>
                <a:latin typeface="Arial Nova Light" panose="020B0304020202020204" pitchFamily="34" charset="0"/>
                <a:ea typeface="Aptos Display" pitchFamily="34" charset="-122"/>
                <a:cs typeface="Aptos Display" pitchFamily="34" charset="-120"/>
              </a:rPr>
              <a:t>Comportamiento durante el entrenamiento</a:t>
            </a:r>
            <a:endParaRPr lang="en-US" sz="2400" dirty="0">
              <a:latin typeface="Arial Nova Light" panose="020B0304020202020204" pitchFamily="34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19F342C3-C133-A8C7-CF61-41B08D26FAE6}"/>
              </a:ext>
            </a:extLst>
          </p:cNvPr>
          <p:cNvSpPr/>
          <p:nvPr/>
        </p:nvSpPr>
        <p:spPr>
          <a:xfrm>
            <a:off x="466344" y="123588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5"/>
                </a:solidFill>
                <a:latin typeface="Arial Nova Light" panose="020B0304020202020204" pitchFamily="34" charset="0"/>
              </a:rPr>
              <a:t>Evolución de accuracy, AUC, loss y recall</a:t>
            </a:r>
            <a:endParaRPr lang="en-US" sz="1080" dirty="0">
              <a:latin typeface="Arial Nova Light" panose="020B0304020202020204" pitchFamily="34" charset="0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D50ED7D6-EE01-4AFA-003B-FA51F465C260}"/>
              </a:ext>
            </a:extLst>
          </p:cNvPr>
          <p:cNvSpPr/>
          <p:nvPr/>
        </p:nvSpPr>
        <p:spPr>
          <a:xfrm>
            <a:off x="530352" y="1431350"/>
            <a:ext cx="76352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  <a:effectLst>
            <a:outerShdw blurRad="15240" dist="762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0" descr="/mnt/data/resultados_ppt_assets/training_grid.png">
            <a:extLst>
              <a:ext uri="{FF2B5EF4-FFF2-40B4-BE49-F238E27FC236}">
                <a16:creationId xmlns:a16="http://schemas.microsoft.com/office/drawing/2014/main" id="{35DEE80D-88A5-75FC-DF3E-8308EC682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169" y="1738262"/>
            <a:ext cx="7269480" cy="4059841"/>
          </a:xfrm>
          <a:prstGeom prst="rect">
            <a:avLst/>
          </a:prstGeom>
        </p:spPr>
      </p:pic>
      <p:sp>
        <p:nvSpPr>
          <p:cNvPr id="10" name="Shape 5">
            <a:extLst>
              <a:ext uri="{FF2B5EF4-FFF2-40B4-BE49-F238E27FC236}">
                <a16:creationId xmlns:a16="http://schemas.microsoft.com/office/drawing/2014/main" id="{1FBB8276-18CA-A80F-86A3-7A29225A9831}"/>
              </a:ext>
            </a:extLst>
          </p:cNvPr>
          <p:cNvSpPr/>
          <p:nvPr/>
        </p:nvSpPr>
        <p:spPr>
          <a:xfrm>
            <a:off x="8454918" y="1599296"/>
            <a:ext cx="3154680" cy="4148697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  <a:effectLst>
            <a:outerShdw blurRad="15240" dist="762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D4687FDB-17CD-B288-DEC7-A4979A7695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87384" y="1885104"/>
            <a:ext cx="530352" cy="530352"/>
          </a:xfrm>
          <a:prstGeom prst="rect">
            <a:avLst/>
          </a:prstGeom>
        </p:spPr>
      </p:pic>
      <p:sp>
        <p:nvSpPr>
          <p:cNvPr id="13" name="Text 6">
            <a:extLst>
              <a:ext uri="{FF2B5EF4-FFF2-40B4-BE49-F238E27FC236}">
                <a16:creationId xmlns:a16="http://schemas.microsoft.com/office/drawing/2014/main" id="{76C5FA2A-CA7B-3636-3781-B31907E77F54}"/>
              </a:ext>
            </a:extLst>
          </p:cNvPr>
          <p:cNvSpPr/>
          <p:nvPr/>
        </p:nvSpPr>
        <p:spPr>
          <a:xfrm>
            <a:off x="9400032" y="194911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3B86"/>
                </a:solidFill>
                <a:latin typeface="Arial Nova Light" panose="020B0304020202020204" pitchFamily="34" charset="0"/>
              </a:rPr>
              <a:t>Interpretación</a:t>
            </a:r>
            <a:endParaRPr lang="en-US" sz="1500" dirty="0">
              <a:latin typeface="Arial Nova Light" panose="020B0304020202020204" pitchFamily="34" charset="0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76C63D55-CE84-C4EB-A78F-8E4308C29200}"/>
              </a:ext>
            </a:extLst>
          </p:cNvPr>
          <p:cNvSpPr/>
          <p:nvPr/>
        </p:nvSpPr>
        <p:spPr>
          <a:xfrm>
            <a:off x="8787384" y="2616624"/>
            <a:ext cx="239572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  <a:latin typeface="Arial Nova Light" panose="020B0304020202020204" pitchFamily="34" charset="0"/>
              </a:rPr>
              <a:t>Las curvas muestran estabilización progresiva de exactitud, AUC, pérdida y sensibilidad.</a:t>
            </a:r>
            <a:endParaRPr lang="en-US" sz="1150" dirty="0">
              <a:latin typeface="Arial Nova Light" panose="020B0304020202020204" pitchFamily="34" charset="0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7C558019-9749-D7FA-FBD9-16F31DB078DE}"/>
              </a:ext>
            </a:extLst>
          </p:cNvPr>
          <p:cNvSpPr/>
          <p:nvPr/>
        </p:nvSpPr>
        <p:spPr>
          <a:xfrm>
            <a:off x="8787384" y="3531024"/>
            <a:ext cx="239572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5C6675"/>
                </a:solidFill>
                <a:latin typeface="Arial Nova Light" panose="020B0304020202020204" pitchFamily="34" charset="0"/>
              </a:rPr>
              <a:t>Durante las primeras épocas hay fluctuaciones en validación, especialmente en recall y pérdida.</a:t>
            </a:r>
            <a:endParaRPr lang="en-US" sz="1110" dirty="0">
              <a:latin typeface="Arial Nova Light" panose="020B0304020202020204" pitchFamily="34" charset="0"/>
            </a:endParaRP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34E87F3D-418A-81DA-35C5-17D85BC350A3}"/>
              </a:ext>
            </a:extLst>
          </p:cNvPr>
          <p:cNvSpPr/>
          <p:nvPr/>
        </p:nvSpPr>
        <p:spPr>
          <a:xfrm>
            <a:off x="8787384" y="4445424"/>
            <a:ext cx="239572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10" b="1" dirty="0">
                <a:solidFill>
                  <a:srgbClr val="1F8A9C"/>
                </a:solidFill>
                <a:latin typeface="Arial Nova Light" panose="020B0304020202020204" pitchFamily="34" charset="0"/>
              </a:rPr>
              <a:t>Hacia las últimas épocas, las curvas tienden a estabilizarse, lo que sugiere convergencia.</a:t>
            </a:r>
            <a:endParaRPr lang="en-US" sz="1110" dirty="0">
              <a:latin typeface="Arial Nova Light" panose="020B03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442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98D198FB-0817-8C37-87A4-B43F21A06380}"/>
              </a:ext>
            </a:extLst>
          </p:cNvPr>
          <p:cNvSpPr/>
          <p:nvPr/>
        </p:nvSpPr>
        <p:spPr>
          <a:xfrm>
            <a:off x="-221" y="0"/>
            <a:ext cx="12192219" cy="559926"/>
          </a:xfrm>
          <a:prstGeom prst="rect">
            <a:avLst/>
          </a:prstGeom>
          <a:solidFill>
            <a:srgbClr val="061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4F13E0D0-91E6-E675-F9F1-1AB3370A571C}"/>
              </a:ext>
            </a:extLst>
          </p:cNvPr>
          <p:cNvSpPr txBox="1"/>
          <p:nvPr/>
        </p:nvSpPr>
        <p:spPr>
          <a:xfrm>
            <a:off x="91447" y="49130"/>
            <a:ext cx="257795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es-MX" sz="2400" dirty="0">
                <a:solidFill>
                  <a:srgbClr val="FFFFFF"/>
                </a:solidFill>
                <a:latin typeface="Roboto Black" panose="020B0604020202020204" pitchFamily="2" charset="0"/>
                <a:ea typeface="Roboto Black" panose="020B0604020202020204" pitchFamily="2" charset="0"/>
              </a:rPr>
              <a:t>III. RESULTADOS</a:t>
            </a:r>
            <a:endParaRPr sz="2400" dirty="0"/>
          </a:p>
        </p:txBody>
      </p:sp>
      <p:pic>
        <p:nvPicPr>
          <p:cNvPr id="9" name="Picture 2" descr="EPG de la UPC: &quot;Hoy necesitamos especialistas en la gestión de riesgos y la  protección de los datos&quot; | Semana Económica">
            <a:extLst>
              <a:ext uri="{FF2B5EF4-FFF2-40B4-BE49-F238E27FC236}">
                <a16:creationId xmlns:a16="http://schemas.microsoft.com/office/drawing/2014/main" id="{59E99D23-6928-19A9-6FFE-07751A916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5492" y="-14115"/>
            <a:ext cx="1019766" cy="687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5FD37D6-B689-9AC3-DEB3-187AB9BDCA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0392"/>
          <a:stretch/>
        </p:blipFill>
        <p:spPr>
          <a:xfrm>
            <a:off x="312168" y="609056"/>
            <a:ext cx="11527724" cy="6055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711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CB3B73A-C11B-E8B2-E22F-85A4C1EB7264}"/>
              </a:ext>
            </a:extLst>
          </p:cNvPr>
          <p:cNvSpPr/>
          <p:nvPr/>
        </p:nvSpPr>
        <p:spPr>
          <a:xfrm>
            <a:off x="0" y="-42084"/>
            <a:ext cx="12192219" cy="559926"/>
          </a:xfrm>
          <a:prstGeom prst="rect">
            <a:avLst/>
          </a:prstGeom>
          <a:solidFill>
            <a:srgbClr val="061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78EAA6EB-3065-B4A1-2610-7C4F6A487A1B}"/>
              </a:ext>
            </a:extLst>
          </p:cNvPr>
          <p:cNvSpPr txBox="1"/>
          <p:nvPr/>
        </p:nvSpPr>
        <p:spPr>
          <a:xfrm>
            <a:off x="91447" y="45333"/>
            <a:ext cx="257795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es-MX" sz="2400" dirty="0">
                <a:solidFill>
                  <a:srgbClr val="FFFFFF"/>
                </a:solidFill>
                <a:latin typeface="Roboto Black" panose="020B0604020202020204" pitchFamily="2" charset="0"/>
                <a:ea typeface="Roboto Black" panose="020B0604020202020204" pitchFamily="2" charset="0"/>
              </a:rPr>
              <a:t>III. RESULTADOS</a:t>
            </a:r>
            <a:endParaRPr sz="2400" dirty="0"/>
          </a:p>
        </p:txBody>
      </p:sp>
      <p:pic>
        <p:nvPicPr>
          <p:cNvPr id="6" name="Picture 2" descr="EPG de la UPC: &quot;Hoy necesitamos especialistas en la gestión de riesgos y la  protección de los datos&quot; | Semana Económica">
            <a:extLst>
              <a:ext uri="{FF2B5EF4-FFF2-40B4-BE49-F238E27FC236}">
                <a16:creationId xmlns:a16="http://schemas.microsoft.com/office/drawing/2014/main" id="{4F233467-B050-A47A-0342-B6C242C9C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7436" y="-42084"/>
            <a:ext cx="1085192" cy="731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B6CB67C-BC84-1793-D242-18F0D6AFFEF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9658"/>
          <a:stretch/>
        </p:blipFill>
        <p:spPr>
          <a:xfrm>
            <a:off x="453024" y="657906"/>
            <a:ext cx="11285951" cy="604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08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02B880-EB18-A7C8-E87D-C9569417443D}"/>
              </a:ext>
            </a:extLst>
          </p:cNvPr>
          <p:cNvSpPr/>
          <p:nvPr/>
        </p:nvSpPr>
        <p:spPr>
          <a:xfrm>
            <a:off x="-221" y="-318062"/>
            <a:ext cx="12192219" cy="1005840"/>
          </a:xfrm>
          <a:prstGeom prst="rect">
            <a:avLst/>
          </a:prstGeom>
          <a:solidFill>
            <a:srgbClr val="061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ED8A6C6-BB39-A08D-92E4-949FFA3D75DC}"/>
              </a:ext>
            </a:extLst>
          </p:cNvPr>
          <p:cNvSpPr txBox="1"/>
          <p:nvPr/>
        </p:nvSpPr>
        <p:spPr>
          <a:xfrm>
            <a:off x="91447" y="127852"/>
            <a:ext cx="293541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es-MX" sz="2400" dirty="0">
                <a:solidFill>
                  <a:srgbClr val="FFFFFF"/>
                </a:solidFill>
                <a:latin typeface="Roboto Black" panose="020B0604020202020204" pitchFamily="2" charset="0"/>
                <a:ea typeface="Roboto Black" panose="020B0604020202020204" pitchFamily="2" charset="0"/>
              </a:rPr>
              <a:t>IV. CONCLUSIONES</a:t>
            </a:r>
            <a:endParaRPr sz="2400" dirty="0"/>
          </a:p>
        </p:txBody>
      </p:sp>
      <p:pic>
        <p:nvPicPr>
          <p:cNvPr id="4" name="Picture 2" descr="EPG de la UPC: &quot;Hoy necesitamos especialistas en la gestión de riesgos y la  protección de los datos&quot; | Semana Económica">
            <a:extLst>
              <a:ext uri="{FF2B5EF4-FFF2-40B4-BE49-F238E27FC236}">
                <a16:creationId xmlns:a16="http://schemas.microsoft.com/office/drawing/2014/main" id="{27731EC1-47AC-C37E-F0A5-32B22EC92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1377" y="-198365"/>
            <a:ext cx="1313881" cy="886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hape 5">
            <a:extLst>
              <a:ext uri="{FF2B5EF4-FFF2-40B4-BE49-F238E27FC236}">
                <a16:creationId xmlns:a16="http://schemas.microsoft.com/office/drawing/2014/main" id="{7A4553F9-60CC-0C88-983C-45FEB3970D85}"/>
              </a:ext>
            </a:extLst>
          </p:cNvPr>
          <p:cNvSpPr/>
          <p:nvPr/>
        </p:nvSpPr>
        <p:spPr>
          <a:xfrm>
            <a:off x="605661" y="1466015"/>
            <a:ext cx="10835640" cy="1145323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B8C7D9"/>
            </a:solidFill>
            <a:prstDash val="solid"/>
          </a:ln>
          <a:effectLst>
            <a:outerShdw blurRad="17780" dist="889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4F490C2-9472-436B-A2B3-6DF7076186DF}"/>
              </a:ext>
            </a:extLst>
          </p:cNvPr>
          <p:cNvSpPr/>
          <p:nvPr/>
        </p:nvSpPr>
        <p:spPr>
          <a:xfrm>
            <a:off x="742821" y="1630607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1D5AA6"/>
          </a:solidFill>
          <a:ln w="12700">
            <a:solidFill>
              <a:srgbClr val="1D5AA6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D2013E8-7797-E631-61F8-A3DA59B8713E}"/>
              </a:ext>
            </a:extLst>
          </p:cNvPr>
          <p:cNvSpPr/>
          <p:nvPr/>
        </p:nvSpPr>
        <p:spPr>
          <a:xfrm>
            <a:off x="742821" y="1767767"/>
            <a:ext cx="5303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Nova Light" panose="020B0304020202020204" pitchFamily="34" charset="0"/>
              </a:rPr>
              <a:t>1</a:t>
            </a:r>
            <a:endParaRPr lang="en-US" sz="1600" dirty="0">
              <a:latin typeface="Arial Nova Light" panose="020B0304020202020204" pitchFamily="34" charset="0"/>
            </a:endParaRPr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27EA0D19-BF03-AD33-8AC8-57B8BC67A1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65453" y="1667183"/>
            <a:ext cx="438912" cy="438912"/>
          </a:xfrm>
          <a:prstGeom prst="rect">
            <a:avLst/>
          </a:prstGeom>
        </p:spPr>
      </p:pic>
      <p:sp>
        <p:nvSpPr>
          <p:cNvPr id="12" name="Text 9">
            <a:extLst>
              <a:ext uri="{FF2B5EF4-FFF2-40B4-BE49-F238E27FC236}">
                <a16:creationId xmlns:a16="http://schemas.microsoft.com/office/drawing/2014/main" id="{25F50C91-66EA-FF21-5459-1BFC6278E39D}"/>
              </a:ext>
            </a:extLst>
          </p:cNvPr>
          <p:cNvSpPr/>
          <p:nvPr/>
        </p:nvSpPr>
        <p:spPr>
          <a:xfrm>
            <a:off x="1410333" y="1710118"/>
            <a:ext cx="98298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C6675"/>
                </a:solidFill>
                <a:latin typeface="Arial Nova Light" panose="020B0304020202020204" pitchFamily="34" charset="0"/>
              </a:rPr>
              <a:t>El modelo alcanzó 84.83 % de exactitud y 89.85 % de ROC-AUC, mostrando una buena capacidad para distinguir imágenes con fisura y sin fisura.</a:t>
            </a:r>
            <a:endParaRPr lang="en-US" sz="1600" dirty="0">
              <a:latin typeface="Arial Nova Light" panose="020B0304020202020204" pitchFamily="34" charset="0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2F014909-6DC7-40E0-4DAD-F46060443D4A}"/>
              </a:ext>
            </a:extLst>
          </p:cNvPr>
          <p:cNvSpPr/>
          <p:nvPr/>
        </p:nvSpPr>
        <p:spPr>
          <a:xfrm>
            <a:off x="1382901" y="2370128"/>
            <a:ext cx="9784080" cy="0"/>
          </a:xfrm>
          <a:prstGeom prst="line">
            <a:avLst/>
          </a:prstGeom>
          <a:noFill/>
          <a:ln w="25400">
            <a:solidFill>
              <a:srgbClr val="1D5AA6">
                <a:alpha val="75000"/>
              </a:srgbClr>
            </a:solidFill>
            <a:prstDash val="solid"/>
          </a:ln>
        </p:spPr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9AEA8378-97CB-C1D2-0A97-E0D768BF52E0}"/>
              </a:ext>
            </a:extLst>
          </p:cNvPr>
          <p:cNvSpPr/>
          <p:nvPr/>
        </p:nvSpPr>
        <p:spPr>
          <a:xfrm>
            <a:off x="605773" y="2917933"/>
            <a:ext cx="10835640" cy="1088136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B8C7D9"/>
            </a:solidFill>
            <a:prstDash val="solid"/>
          </a:ln>
          <a:effectLst>
            <a:outerShdw blurRad="17780" dist="889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4E5A13DE-CF7F-A0F9-3198-43ECBD061153}"/>
              </a:ext>
            </a:extLst>
          </p:cNvPr>
          <p:cNvSpPr/>
          <p:nvPr/>
        </p:nvSpPr>
        <p:spPr>
          <a:xfrm>
            <a:off x="742933" y="3082525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F4A71D"/>
          </a:solidFill>
          <a:ln w="12700">
            <a:solidFill>
              <a:srgbClr val="F4A71D"/>
            </a:solidFill>
            <a:prstDash val="solid"/>
          </a:ln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3A2E484-8875-8999-D6F5-6FBF43753715}"/>
              </a:ext>
            </a:extLst>
          </p:cNvPr>
          <p:cNvSpPr/>
          <p:nvPr/>
        </p:nvSpPr>
        <p:spPr>
          <a:xfrm>
            <a:off x="742933" y="3219685"/>
            <a:ext cx="5303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Nova Light" panose="020B0304020202020204" pitchFamily="34" charset="0"/>
              </a:rPr>
              <a:t>2</a:t>
            </a:r>
            <a:endParaRPr lang="en-US" sz="1600" dirty="0">
              <a:latin typeface="Arial Nova Light" panose="020B0304020202020204" pitchFamily="34" charset="0"/>
            </a:endParaRPr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646A50F0-0FD9-F481-8FA7-7FAC2D85A2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28181" y="3119101"/>
            <a:ext cx="438912" cy="438912"/>
          </a:xfrm>
          <a:prstGeom prst="rect">
            <a:avLst/>
          </a:prstGeom>
        </p:spPr>
      </p:pic>
      <p:sp>
        <p:nvSpPr>
          <p:cNvPr id="19" name="Text 15">
            <a:extLst>
              <a:ext uri="{FF2B5EF4-FFF2-40B4-BE49-F238E27FC236}">
                <a16:creationId xmlns:a16="http://schemas.microsoft.com/office/drawing/2014/main" id="{1D4ECA06-37F6-F645-3889-6360C7FEEE2C}"/>
              </a:ext>
            </a:extLst>
          </p:cNvPr>
          <p:cNvSpPr/>
          <p:nvPr/>
        </p:nvSpPr>
        <p:spPr>
          <a:xfrm>
            <a:off x="1392157" y="3169393"/>
            <a:ext cx="98298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C6675"/>
                </a:solidFill>
                <a:latin typeface="Arial Nova Light" panose="020B0304020202020204" pitchFamily="34" charset="0"/>
              </a:rPr>
              <a:t>La red obtuvo un Recall de 76.42 %, priorizando la detección de fisuras reales; sin embargo, la precisión de 49.90 % evidencia falsos positivos que deben reducirse.</a:t>
            </a:r>
            <a:endParaRPr lang="en-US" sz="1600" dirty="0">
              <a:latin typeface="Arial Nova Light" panose="020B0304020202020204" pitchFamily="34" charset="0"/>
            </a:endParaRP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2DFF0E90-DA45-E084-3053-225445251AB4}"/>
              </a:ext>
            </a:extLst>
          </p:cNvPr>
          <p:cNvSpPr/>
          <p:nvPr/>
        </p:nvSpPr>
        <p:spPr>
          <a:xfrm>
            <a:off x="1410445" y="3812521"/>
            <a:ext cx="9784080" cy="0"/>
          </a:xfrm>
          <a:prstGeom prst="line">
            <a:avLst/>
          </a:prstGeom>
          <a:noFill/>
          <a:ln w="25400">
            <a:solidFill>
              <a:srgbClr val="F4A71D">
                <a:alpha val="75000"/>
              </a:srgbClr>
            </a:solidFill>
            <a:prstDash val="solid"/>
          </a:ln>
        </p:spPr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005DCA48-1B82-7789-F101-72E6E372D163}"/>
              </a:ext>
            </a:extLst>
          </p:cNvPr>
          <p:cNvSpPr/>
          <p:nvPr/>
        </p:nvSpPr>
        <p:spPr>
          <a:xfrm>
            <a:off x="605885" y="4351255"/>
            <a:ext cx="10835640" cy="1088136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B8C7D9"/>
            </a:solidFill>
            <a:prstDash val="solid"/>
          </a:ln>
          <a:effectLst>
            <a:outerShdw blurRad="17780" dist="889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0653406-260F-DADA-487A-114630BDBBF9}"/>
              </a:ext>
            </a:extLst>
          </p:cNvPr>
          <p:cNvSpPr/>
          <p:nvPr/>
        </p:nvSpPr>
        <p:spPr>
          <a:xfrm>
            <a:off x="743045" y="4515847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1F8A9C"/>
          </a:solidFill>
          <a:ln w="12700">
            <a:solidFill>
              <a:srgbClr val="1F8A9C"/>
            </a:solidFill>
            <a:prstDash val="solid"/>
          </a:ln>
        </p:spPr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ED05FC2F-2ADD-798B-6AD7-5B45EDAF0E02}"/>
              </a:ext>
            </a:extLst>
          </p:cNvPr>
          <p:cNvSpPr/>
          <p:nvPr/>
        </p:nvSpPr>
        <p:spPr>
          <a:xfrm>
            <a:off x="743045" y="4653007"/>
            <a:ext cx="5303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Nova Light" panose="020B0304020202020204" pitchFamily="34" charset="0"/>
              </a:rPr>
              <a:t>3</a:t>
            </a:r>
            <a:endParaRPr lang="en-US" sz="1600" dirty="0">
              <a:latin typeface="Arial Nova Light" panose="020B0304020202020204" pitchFamily="34" charset="0"/>
            </a:endParaRPr>
          </a:p>
        </p:txBody>
      </p:sp>
      <p:pic>
        <p:nvPicPr>
          <p:cNvPr id="24" name="Image 2" descr="preencoded.png">
            <a:extLst>
              <a:ext uri="{FF2B5EF4-FFF2-40B4-BE49-F238E27FC236}">
                <a16:creationId xmlns:a16="http://schemas.microsoft.com/office/drawing/2014/main" id="{266AC17F-6A30-D5C9-D329-133EB45610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28293" y="4552423"/>
            <a:ext cx="438912" cy="438912"/>
          </a:xfrm>
          <a:prstGeom prst="rect">
            <a:avLst/>
          </a:prstGeom>
        </p:spPr>
      </p:pic>
      <p:sp>
        <p:nvSpPr>
          <p:cNvPr id="26" name="Text 21">
            <a:extLst>
              <a:ext uri="{FF2B5EF4-FFF2-40B4-BE49-F238E27FC236}">
                <a16:creationId xmlns:a16="http://schemas.microsoft.com/office/drawing/2014/main" id="{F33D8C81-0173-B9DF-8FE1-F61AE97BE49D}"/>
              </a:ext>
            </a:extLst>
          </p:cNvPr>
          <p:cNvSpPr/>
          <p:nvPr/>
        </p:nvSpPr>
        <p:spPr>
          <a:xfrm>
            <a:off x="1410557" y="4588999"/>
            <a:ext cx="98298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C6675"/>
                </a:solidFill>
                <a:latin typeface="Arial Nova Light" panose="020B0304020202020204" pitchFamily="34" charset="0"/>
              </a:rPr>
              <a:t>La metodología permitió complementar la clasificación con mediciones en píxeles de longitud y espesor mediante segmentación, esqueletización y mapas de espesor.</a:t>
            </a:r>
            <a:endParaRPr lang="en-US" sz="1600" dirty="0">
              <a:latin typeface="Arial Nova Light" panose="020B0304020202020204" pitchFamily="34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FD2D10A1-87A6-B7AF-FF9F-2BFA96CDCB24}"/>
              </a:ext>
            </a:extLst>
          </p:cNvPr>
          <p:cNvSpPr/>
          <p:nvPr/>
        </p:nvSpPr>
        <p:spPr>
          <a:xfrm>
            <a:off x="1323510" y="5226793"/>
            <a:ext cx="9784080" cy="0"/>
          </a:xfrm>
          <a:prstGeom prst="line">
            <a:avLst/>
          </a:prstGeom>
          <a:noFill/>
          <a:ln w="25400">
            <a:solidFill>
              <a:srgbClr val="1F8A9C">
                <a:alpha val="7500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74879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02B880-EB18-A7C8-E87D-C9569417443D}"/>
              </a:ext>
            </a:extLst>
          </p:cNvPr>
          <p:cNvSpPr/>
          <p:nvPr/>
        </p:nvSpPr>
        <p:spPr>
          <a:xfrm>
            <a:off x="-221" y="-318062"/>
            <a:ext cx="12192219" cy="1005840"/>
          </a:xfrm>
          <a:prstGeom prst="rect">
            <a:avLst/>
          </a:prstGeom>
          <a:solidFill>
            <a:srgbClr val="061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ED8A6C6-BB39-A08D-92E4-949FFA3D75DC}"/>
              </a:ext>
            </a:extLst>
          </p:cNvPr>
          <p:cNvSpPr txBox="1"/>
          <p:nvPr/>
        </p:nvSpPr>
        <p:spPr>
          <a:xfrm>
            <a:off x="91447" y="127852"/>
            <a:ext cx="508184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es-MX" sz="2400" dirty="0">
                <a:solidFill>
                  <a:srgbClr val="FFFFFF"/>
                </a:solidFill>
                <a:latin typeface="Roboto Black" panose="020B0604020202020204" pitchFamily="2" charset="0"/>
                <a:ea typeface="Roboto Black" panose="020B0604020202020204" pitchFamily="2" charset="0"/>
              </a:rPr>
              <a:t>V. REFERENCIAS BIBLIOGRÁFICAS</a:t>
            </a:r>
            <a:endParaRPr sz="2400" dirty="0"/>
          </a:p>
        </p:txBody>
      </p:sp>
      <p:pic>
        <p:nvPicPr>
          <p:cNvPr id="4" name="Picture 2" descr="EPG de la UPC: &quot;Hoy necesitamos especialistas en la gestión de riesgos y la  protección de los datos&quot; | Semana Económica">
            <a:extLst>
              <a:ext uri="{FF2B5EF4-FFF2-40B4-BE49-F238E27FC236}">
                <a16:creationId xmlns:a16="http://schemas.microsoft.com/office/drawing/2014/main" id="{27731EC1-47AC-C37E-F0A5-32B22EC92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1377" y="-198365"/>
            <a:ext cx="1313881" cy="886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49A74FF-D4CF-E555-1F58-E1AA54B03A52}"/>
              </a:ext>
            </a:extLst>
          </p:cNvPr>
          <p:cNvSpPr txBox="1"/>
          <p:nvPr/>
        </p:nvSpPr>
        <p:spPr>
          <a:xfrm>
            <a:off x="792271" y="1186865"/>
            <a:ext cx="807595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b="0" i="0" dirty="0" err="1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Dorafshan</a:t>
            </a:r>
            <a:r>
              <a:rPr lang="es-PE" b="0" i="0" dirty="0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, S., Thomas, R. J., &amp; Maguire, M. (2018). </a:t>
            </a:r>
            <a:r>
              <a:rPr lang="es-PE" b="0" i="0" dirty="0" err="1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Comparison</a:t>
            </a:r>
            <a:r>
              <a:rPr lang="es-PE" b="0" i="0" dirty="0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 </a:t>
            </a:r>
            <a:r>
              <a:rPr lang="es-PE" b="0" i="0" dirty="0" err="1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of</a:t>
            </a:r>
            <a:r>
              <a:rPr lang="es-PE" b="0" i="0" dirty="0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 </a:t>
            </a:r>
            <a:r>
              <a:rPr lang="es-PE" b="0" i="0" dirty="0" err="1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deep</a:t>
            </a:r>
            <a:r>
              <a:rPr lang="es-PE" b="0" i="0" dirty="0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 </a:t>
            </a:r>
            <a:r>
              <a:rPr lang="es-PE" b="0" i="0" dirty="0" err="1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convolutional</a:t>
            </a:r>
            <a:r>
              <a:rPr lang="es-PE" b="0" i="0" dirty="0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 neural </a:t>
            </a:r>
            <a:r>
              <a:rPr lang="es-PE" b="0" i="0" dirty="0" err="1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networks</a:t>
            </a:r>
            <a:r>
              <a:rPr lang="es-PE" b="0" i="0" dirty="0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 and </a:t>
            </a:r>
            <a:r>
              <a:rPr lang="es-PE" b="0" i="0" dirty="0" err="1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edge</a:t>
            </a:r>
            <a:r>
              <a:rPr lang="es-PE" b="0" i="0" dirty="0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 </a:t>
            </a:r>
            <a:r>
              <a:rPr lang="es-PE" b="0" i="0" dirty="0" err="1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detectors</a:t>
            </a:r>
            <a:r>
              <a:rPr lang="es-PE" b="0" i="0" dirty="0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 </a:t>
            </a:r>
            <a:r>
              <a:rPr lang="es-PE" b="0" i="0" dirty="0" err="1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for</a:t>
            </a:r>
            <a:r>
              <a:rPr lang="es-PE" b="0" i="0" dirty="0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 </a:t>
            </a:r>
            <a:r>
              <a:rPr lang="es-PE" b="0" i="0" dirty="0" err="1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image-based</a:t>
            </a:r>
            <a:r>
              <a:rPr lang="es-PE" b="0" i="0" dirty="0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 crack </a:t>
            </a:r>
            <a:r>
              <a:rPr lang="es-PE" b="0" i="0" dirty="0" err="1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detection</a:t>
            </a:r>
            <a:r>
              <a:rPr lang="es-PE" b="0" i="0" dirty="0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 in concrete. </a:t>
            </a:r>
            <a:r>
              <a:rPr lang="es-PE" b="0" i="0" dirty="0" err="1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Construction</a:t>
            </a:r>
            <a:r>
              <a:rPr lang="es-PE" b="0" i="0" dirty="0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 and </a:t>
            </a:r>
            <a:r>
              <a:rPr lang="es-PE" b="0" i="0" dirty="0" err="1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Building</a:t>
            </a:r>
            <a:r>
              <a:rPr lang="es-PE" b="0" i="0" dirty="0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 </a:t>
            </a:r>
            <a:r>
              <a:rPr lang="es-PE" b="0" i="0" dirty="0" err="1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Materials</a:t>
            </a:r>
            <a:r>
              <a:rPr lang="es-PE" b="0" i="0" dirty="0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, 186, 1031-1045.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b="0" i="0" dirty="0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Yang, X., Li, H., </a:t>
            </a:r>
            <a:r>
              <a:rPr lang="es-PE" b="0" i="0" dirty="0" err="1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Yu</a:t>
            </a:r>
            <a:r>
              <a:rPr lang="es-PE" b="0" i="0" dirty="0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, Y., </a:t>
            </a:r>
            <a:r>
              <a:rPr lang="es-PE" b="0" i="0" dirty="0" err="1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Luo</a:t>
            </a:r>
            <a:r>
              <a:rPr lang="es-PE" b="0" i="0" dirty="0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, X., Huang, T., &amp; Pan, X. (2018). </a:t>
            </a:r>
            <a:r>
              <a:rPr lang="es-PE" b="0" i="0" dirty="0" err="1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Automatic</a:t>
            </a:r>
            <a:r>
              <a:rPr lang="es-PE" b="0" i="0" dirty="0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 Pixel-</a:t>
            </a:r>
            <a:r>
              <a:rPr lang="es-PE" b="0" i="0" dirty="0" err="1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Level</a:t>
            </a:r>
            <a:r>
              <a:rPr lang="es-PE" b="0" i="0" dirty="0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 Crack </a:t>
            </a:r>
            <a:r>
              <a:rPr lang="es-PE" b="0" i="0" dirty="0" err="1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Detection</a:t>
            </a:r>
            <a:r>
              <a:rPr lang="es-PE" b="0" i="0" dirty="0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 and </a:t>
            </a:r>
            <a:r>
              <a:rPr lang="es-PE" b="0" i="0" dirty="0" err="1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Measurement</a:t>
            </a:r>
            <a:r>
              <a:rPr lang="es-PE" b="0" i="0" dirty="0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 </a:t>
            </a:r>
            <a:r>
              <a:rPr lang="es-PE" b="0" i="0" dirty="0" err="1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Using</a:t>
            </a:r>
            <a:r>
              <a:rPr lang="es-PE" b="0" i="0" dirty="0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 </a:t>
            </a:r>
            <a:r>
              <a:rPr lang="es-PE" b="0" i="0" dirty="0" err="1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Fully</a:t>
            </a:r>
            <a:r>
              <a:rPr lang="es-PE" b="0" i="0" dirty="0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 </a:t>
            </a:r>
            <a:r>
              <a:rPr lang="es-PE" b="0" i="0" dirty="0" err="1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Convolutional</a:t>
            </a:r>
            <a:r>
              <a:rPr lang="es-PE" b="0" i="0" dirty="0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 Network. </a:t>
            </a:r>
            <a:r>
              <a:rPr lang="es-PE" b="0" i="0" dirty="0" err="1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Computer-Aided</a:t>
            </a:r>
            <a:r>
              <a:rPr lang="es-PE" b="0" i="0" dirty="0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 Civil and </a:t>
            </a:r>
            <a:r>
              <a:rPr lang="es-PE" b="0" i="0" dirty="0" err="1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Infrastructure</a:t>
            </a:r>
            <a:r>
              <a:rPr lang="es-PE" b="0" i="0" dirty="0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 </a:t>
            </a:r>
            <a:r>
              <a:rPr lang="es-PE" b="0" i="0" dirty="0" err="1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Engineering</a:t>
            </a:r>
            <a:r>
              <a:rPr lang="es-PE" b="0" i="0" dirty="0">
                <a:solidFill>
                  <a:srgbClr val="1F2328"/>
                </a:solidFill>
                <a:effectLst/>
                <a:latin typeface="Arial Nova Light" panose="020B0304020202020204" pitchFamily="34" charset="0"/>
              </a:rPr>
              <a:t>, 33(12), 1090-1109. </a:t>
            </a:r>
            <a:endParaRPr lang="es-PE" dirty="0">
              <a:solidFill>
                <a:srgbClr val="1F2328"/>
              </a:solidFill>
              <a:latin typeface="Arial Nova Light" panose="020B03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dirty="0">
                <a:solidFill>
                  <a:srgbClr val="1F2328"/>
                </a:solidFill>
                <a:latin typeface="Arial Nova Light" panose="020B0304020202020204" pitchFamily="34" charset="0"/>
              </a:rPr>
              <a:t>Google. (2026). Gemini (Versión de julio de 2026). Asistencia técnica en la estructuración de algoritmos y revisión de ecuaciones de control. </a:t>
            </a:r>
            <a:r>
              <a:rPr lang="es-PE" dirty="0">
                <a:solidFill>
                  <a:srgbClr val="1F2328"/>
                </a:solidFill>
                <a:latin typeface="Arial Nova Light" panose="020B03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https://gemini.google.com/</a:t>
            </a:r>
            <a:endParaRPr lang="es-PE" dirty="0">
              <a:solidFill>
                <a:srgbClr val="1F2328"/>
              </a:solidFill>
              <a:latin typeface="Arial Nova Light" panose="020B03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dirty="0" err="1">
                <a:solidFill>
                  <a:srgbClr val="1F2328"/>
                </a:solidFill>
                <a:latin typeface="Arial Nova Light" panose="020B0304020202020204" pitchFamily="34" charset="0"/>
              </a:rPr>
              <a:t>OpenAI</a:t>
            </a:r>
            <a:r>
              <a:rPr lang="es-PE" dirty="0">
                <a:solidFill>
                  <a:srgbClr val="1F2328"/>
                </a:solidFill>
                <a:latin typeface="Arial Nova Light" panose="020B0304020202020204" pitchFamily="34" charset="0"/>
              </a:rPr>
              <a:t>. (2026). </a:t>
            </a:r>
            <a:r>
              <a:rPr lang="es-PE" dirty="0" err="1">
                <a:solidFill>
                  <a:srgbClr val="1F2328"/>
                </a:solidFill>
                <a:latin typeface="Arial Nova Light" panose="020B0304020202020204" pitchFamily="34" charset="0"/>
              </a:rPr>
              <a:t>ChatGPT</a:t>
            </a:r>
            <a:r>
              <a:rPr lang="es-PE" dirty="0">
                <a:solidFill>
                  <a:srgbClr val="1F2328"/>
                </a:solidFill>
                <a:latin typeface="Arial Nova Light" panose="020B0304020202020204" pitchFamily="34" charset="0"/>
              </a:rPr>
              <a:t> (Versión GPT-4o) . Soporte en la optimización del plan algorítmico y depuración de código en Python. </a:t>
            </a:r>
            <a:r>
              <a:rPr lang="es-PE" dirty="0">
                <a:solidFill>
                  <a:srgbClr val="1F2328"/>
                </a:solidFill>
                <a:latin typeface="Arial Nova Light" panose="020B03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https://chatgpt.com/</a:t>
            </a:r>
            <a:endParaRPr lang="es-PE" dirty="0">
              <a:solidFill>
                <a:srgbClr val="1F2328"/>
              </a:solidFill>
              <a:latin typeface="Arial Nova Light" panose="020B0304020202020204" pitchFamily="34" charset="0"/>
            </a:endParaRPr>
          </a:p>
        </p:txBody>
      </p:sp>
      <p:pic>
        <p:nvPicPr>
          <p:cNvPr id="4104" name="Picture 8" descr="icono de vector blanco y negro documento bloc de notas y lápiz 9323324  Vector en Vecteezy">
            <a:extLst>
              <a:ext uri="{FF2B5EF4-FFF2-40B4-BE49-F238E27FC236}">
                <a16:creationId xmlns:a16="http://schemas.microsoft.com/office/drawing/2014/main" id="{9B0855FC-C036-FBAE-5118-025750DF6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7863" y="1485186"/>
            <a:ext cx="2083514" cy="208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466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/portada_grietas.png">
            <a:extLst>
              <a:ext uri="{FF2B5EF4-FFF2-40B4-BE49-F238E27FC236}">
                <a16:creationId xmlns:a16="http://schemas.microsoft.com/office/drawing/2014/main" id="{9A120F60-9F0C-78FF-1D13-1D708C94D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8ECC4B7F-B478-7FB1-5EBB-2580D18766FA}"/>
              </a:ext>
            </a:extLst>
          </p:cNvPr>
          <p:cNvSpPr/>
          <p:nvPr/>
        </p:nvSpPr>
        <p:spPr>
          <a:xfrm>
            <a:off x="0" y="0"/>
            <a:ext cx="7863840" cy="6858000"/>
          </a:xfrm>
          <a:prstGeom prst="rect">
            <a:avLst/>
          </a:prstGeom>
          <a:solidFill>
            <a:srgbClr val="16213A"/>
          </a:solidFill>
          <a:ln/>
        </p:spPr>
        <p:txBody>
          <a:bodyPr/>
          <a:lstStyle/>
          <a:p>
            <a:endParaRPr lang="es-PE" dirty="0"/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8FC36453-C719-ECDC-6539-D4A1F1FD7E86}"/>
              </a:ext>
            </a:extLst>
          </p:cNvPr>
          <p:cNvSpPr/>
          <p:nvPr/>
        </p:nvSpPr>
        <p:spPr>
          <a:xfrm>
            <a:off x="972001" y="1799844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GRACIAS!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589886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</TotalTime>
  <Words>833</Words>
  <Application>Microsoft Office PowerPoint</Application>
  <PresentationFormat>Panorámica</PresentationFormat>
  <Paragraphs>109</Paragraphs>
  <Slides>14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Aptos Display</vt:lpstr>
      <vt:lpstr>Arial</vt:lpstr>
      <vt:lpstr>Arial Nova Light</vt:lpstr>
      <vt:lpstr>Calibri</vt:lpstr>
      <vt:lpstr>Roboto Black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Ruben Luque</cp:lastModifiedBy>
  <cp:revision>36</cp:revision>
  <dcterms:created xsi:type="dcterms:W3CDTF">2026-07-25T00:31:03Z</dcterms:created>
  <dcterms:modified xsi:type="dcterms:W3CDTF">2026-07-29T22:23:57Z</dcterms:modified>
</cp:coreProperties>
</file>